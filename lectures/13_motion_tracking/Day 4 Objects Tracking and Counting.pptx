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 Bold" charset="1" panose="020B0806030504020204"/>
      <p:regular r:id="rId14"/>
    </p:embeddedFont>
    <p:embeddedFont>
      <p:font typeface="Open Sans" charset="1" panose="020B0606030504020204"/>
      <p:regular r:id="rId15"/>
    </p:embeddedFont>
    <p:embeddedFont>
      <p:font typeface="Century Gothic Paneuropean Bold" charset="1" panose="020B0702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VAGdYLN6iJ0.mp4" Type="http://schemas.openxmlformats.org/officeDocument/2006/relationships/video"/><Relationship Id="rId6" Target="../media/VAGdYLN6iJ0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3.jpeg" Type="http://schemas.openxmlformats.org/officeDocument/2006/relationships/image"/><Relationship Id="rId7" Target="../media/VAGdYLN6iJ0.mp4" Type="http://schemas.openxmlformats.org/officeDocument/2006/relationships/video"/><Relationship Id="rId8" Target="../media/VAGdYLN6iJ0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VAGdXSwCOQs.mp4" Type="http://schemas.openxmlformats.org/officeDocument/2006/relationships/video"/><Relationship Id="rId6" Target="../media/VAGdXSwCOQs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VAGdYLN6iJ0.mp4" Type="http://schemas.openxmlformats.org/officeDocument/2006/relationships/video"/><Relationship Id="rId6" Target="../media/VAGdYLN6iJ0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VAGdYFwWcPw.mp4" Type="http://schemas.openxmlformats.org/officeDocument/2006/relationships/video"/><Relationship Id="rId6" Target="../media/VAGdYFwWcPw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VAGdYMJSttY.mp4" Type="http://schemas.openxmlformats.org/officeDocument/2006/relationships/video"/><Relationship Id="rId6" Target="../media/VAGdYMJSttY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VAGdYPEX-qo.mp4" Type="http://schemas.openxmlformats.org/officeDocument/2006/relationships/video"/><Relationship Id="rId6" Target="../media/VAGdYPEX-qo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631281" y="1157975"/>
            <a:ext cx="11025438" cy="193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5"/>
              </a:lnSpc>
            </a:pPr>
            <a:r>
              <a:rPr lang="en-US" sz="558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Objects Tracking and Counting </a:t>
            </a:r>
          </a:p>
          <a:p>
            <a:pPr algn="ctr">
              <a:lnSpc>
                <a:spcPts val="7825"/>
              </a:lnSpc>
              <a:spcBef>
                <a:spcPct val="0"/>
              </a:spcBef>
            </a:pPr>
            <a:r>
              <a:rPr lang="en-US" b="true" sz="558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Hands On</a:t>
            </a:r>
          </a:p>
        </p:txBody>
      </p: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4589616" y="3708591"/>
            <a:ext cx="9105344" cy="5129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20407" y="608364"/>
            <a:ext cx="12664982" cy="75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to Object Tracking and Counting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58786" y="2423978"/>
            <a:ext cx="13349767" cy="552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5"/>
              </a:lnSpc>
            </a:pPr>
            <a:r>
              <a:rPr lang="en-US" b="true" sz="2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</a:t>
            </a:r>
            <a:r>
              <a:rPr lang="en-US" b="true" sz="2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 Tracking</a:t>
            </a:r>
          </a:p>
          <a:p>
            <a:pPr algn="just" marL="1226303" indent="-408768" lvl="2">
              <a:lnSpc>
                <a:spcPts val="3975"/>
              </a:lnSpc>
              <a:buFont typeface="Arial"/>
              <a:buChar char="⚬"/>
            </a:pPr>
            <a:r>
              <a:rPr lang="en-US" b="true" sz="2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Definition:</a:t>
            </a:r>
            <a:r>
              <a:rPr lang="en-US" sz="28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Identifying and following the movement of objects across video frames.</a:t>
            </a:r>
          </a:p>
          <a:p>
            <a:pPr algn="just" marL="1226303" indent="-408768" lvl="2">
              <a:lnSpc>
                <a:spcPts val="3975"/>
              </a:lnSpc>
              <a:buFont typeface="Arial"/>
              <a:buChar char="⚬"/>
            </a:pPr>
            <a:r>
              <a:rPr lang="en-US" b="true" sz="2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Importance:</a:t>
            </a:r>
            <a:r>
              <a:rPr lang="en-US" sz="28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Essential for monitoring in scenarios like crowd surveillance and traffic management.</a:t>
            </a:r>
          </a:p>
          <a:p>
            <a:pPr algn="just">
              <a:lnSpc>
                <a:spcPts val="3975"/>
              </a:lnSpc>
            </a:pPr>
          </a:p>
          <a:p>
            <a:pPr algn="just">
              <a:lnSpc>
                <a:spcPts val="3975"/>
              </a:lnSpc>
            </a:pPr>
            <a:r>
              <a:rPr lang="en-US" b="true" sz="2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</a:t>
            </a:r>
            <a:r>
              <a:rPr lang="en-US" b="true" sz="2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 Counting</a:t>
            </a:r>
          </a:p>
          <a:p>
            <a:pPr algn="just" marL="1226303" indent="-408768" lvl="2">
              <a:lnSpc>
                <a:spcPts val="3975"/>
              </a:lnSpc>
              <a:buFont typeface="Arial"/>
              <a:buChar char="⚬"/>
            </a:pPr>
            <a:r>
              <a:rPr lang="en-US" b="true" sz="2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Definition:</a:t>
            </a:r>
            <a:r>
              <a:rPr lang="en-US" sz="28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Quantifying the number of objects or individuals in a scene.</a:t>
            </a:r>
          </a:p>
          <a:p>
            <a:pPr algn="just" marL="1226303" indent="-408768" lvl="2">
              <a:lnSpc>
                <a:spcPts val="3975"/>
              </a:lnSpc>
              <a:buFont typeface="Arial"/>
              <a:buChar char="⚬"/>
            </a:pPr>
            <a:r>
              <a:rPr lang="en-US" b="true" sz="2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Applications:</a:t>
            </a:r>
            <a:r>
              <a:rPr lang="en-US" sz="28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Useful in retail for tracking foot traffic, in event management for crowd control, and in urban planning for traffic analysis.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279447" y="2334201"/>
            <a:ext cx="758679" cy="760617"/>
          </a:xfrm>
          <a:custGeom>
            <a:avLst/>
            <a:gdLst/>
            <a:ahLst/>
            <a:cxnLst/>
            <a:rect r="r" b="b" t="t" l="l"/>
            <a:pathLst>
              <a:path h="760617" w="758679">
                <a:moveTo>
                  <a:pt x="0" y="0"/>
                </a:moveTo>
                <a:lnTo>
                  <a:pt x="758679" y="0"/>
                </a:lnTo>
                <a:lnTo>
                  <a:pt x="758679" y="760616"/>
                </a:lnTo>
                <a:lnTo>
                  <a:pt x="0" y="76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20142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66339" y="2379532"/>
            <a:ext cx="312284" cy="46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sz="276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1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279447" y="5350224"/>
            <a:ext cx="758679" cy="760617"/>
          </a:xfrm>
          <a:custGeom>
            <a:avLst/>
            <a:gdLst/>
            <a:ahLst/>
            <a:cxnLst/>
            <a:rect r="r" b="b" t="t" l="l"/>
            <a:pathLst>
              <a:path h="760617" w="758679">
                <a:moveTo>
                  <a:pt x="0" y="0"/>
                </a:moveTo>
                <a:lnTo>
                  <a:pt x="758679" y="0"/>
                </a:lnTo>
                <a:lnTo>
                  <a:pt x="758679" y="760617"/>
                </a:lnTo>
                <a:lnTo>
                  <a:pt x="0" y="7606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201427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66339" y="5395555"/>
            <a:ext cx="312284" cy="46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sz="276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374540" y="2557352"/>
            <a:ext cx="2783736" cy="1055642"/>
            <a:chOff x="0" y="0"/>
            <a:chExt cx="677983" cy="2571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7983" cy="257103"/>
            </a:xfrm>
            <a:custGeom>
              <a:avLst/>
              <a:gdLst/>
              <a:ahLst/>
              <a:cxnLst/>
              <a:rect r="r" b="b" t="t" l="l"/>
              <a:pathLst>
                <a:path h="257103" w="677983">
                  <a:moveTo>
                    <a:pt x="0" y="0"/>
                  </a:moveTo>
                  <a:lnTo>
                    <a:pt x="677983" y="0"/>
                  </a:lnTo>
                  <a:lnTo>
                    <a:pt x="677983" y="257103"/>
                  </a:lnTo>
                  <a:lnTo>
                    <a:pt x="0" y="257103"/>
                  </a:ln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77983" cy="295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Detection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68291" y="2557352"/>
            <a:ext cx="2783736" cy="1055642"/>
            <a:chOff x="0" y="0"/>
            <a:chExt cx="677983" cy="2571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7983" cy="257103"/>
            </a:xfrm>
            <a:custGeom>
              <a:avLst/>
              <a:gdLst/>
              <a:ahLst/>
              <a:cxnLst/>
              <a:rect r="r" b="b" t="t" l="l"/>
              <a:pathLst>
                <a:path h="257103" w="677983">
                  <a:moveTo>
                    <a:pt x="0" y="0"/>
                  </a:moveTo>
                  <a:lnTo>
                    <a:pt x="677983" y="0"/>
                  </a:lnTo>
                  <a:lnTo>
                    <a:pt x="677983" y="257103"/>
                  </a:lnTo>
                  <a:lnTo>
                    <a:pt x="0" y="257103"/>
                  </a:ln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77983" cy="295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Tracking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29725" y="2557352"/>
            <a:ext cx="2783736" cy="1055642"/>
            <a:chOff x="0" y="0"/>
            <a:chExt cx="677983" cy="2571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7983" cy="257103"/>
            </a:xfrm>
            <a:custGeom>
              <a:avLst/>
              <a:gdLst/>
              <a:ahLst/>
              <a:cxnLst/>
              <a:rect r="r" b="b" t="t" l="l"/>
              <a:pathLst>
                <a:path h="257103" w="677983">
                  <a:moveTo>
                    <a:pt x="0" y="0"/>
                  </a:moveTo>
                  <a:lnTo>
                    <a:pt x="677983" y="0"/>
                  </a:lnTo>
                  <a:lnTo>
                    <a:pt x="677983" y="257103"/>
                  </a:lnTo>
                  <a:lnTo>
                    <a:pt x="0" y="257103"/>
                  </a:ln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7983" cy="295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Counting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7182067" y="3089684"/>
            <a:ext cx="6280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0559432" y="3111159"/>
            <a:ext cx="6280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376946" y="4267856"/>
            <a:ext cx="5702642" cy="3799385"/>
          </a:xfrm>
          <a:custGeom>
            <a:avLst/>
            <a:gdLst/>
            <a:ahLst/>
            <a:cxnLst/>
            <a:rect r="r" b="b" t="t" l="l"/>
            <a:pathLst>
              <a:path h="3799385" w="5702642">
                <a:moveTo>
                  <a:pt x="0" y="0"/>
                </a:moveTo>
                <a:lnTo>
                  <a:pt x="5702642" y="0"/>
                </a:lnTo>
                <a:lnTo>
                  <a:pt x="5702642" y="3799385"/>
                </a:lnTo>
                <a:lnTo>
                  <a:pt x="0" y="3799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705718" y="4267856"/>
            <a:ext cx="3329695" cy="3780212"/>
          </a:xfrm>
          <a:custGeom>
            <a:avLst/>
            <a:gdLst/>
            <a:ahLst/>
            <a:cxnLst/>
            <a:rect r="r" b="b" t="t" l="l"/>
            <a:pathLst>
              <a:path h="3780212" w="3329695">
                <a:moveTo>
                  <a:pt x="0" y="0"/>
                </a:moveTo>
                <a:lnTo>
                  <a:pt x="3329695" y="0"/>
                </a:lnTo>
                <a:lnTo>
                  <a:pt x="3329695" y="3780212"/>
                </a:lnTo>
                <a:lnTo>
                  <a:pt x="0" y="3780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721" t="-2824" r="-5721" b="-2219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083452" y="598274"/>
            <a:ext cx="8121096" cy="77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1"/>
              </a:lnSpc>
              <a:spcBef>
                <a:spcPct val="0"/>
              </a:spcBef>
            </a:pPr>
            <a:r>
              <a:rPr lang="en-US" b="true" sz="455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 Counting Framework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61713" y="5847690"/>
            <a:ext cx="263030" cy="61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9"/>
              </a:lnSpc>
              <a:spcBef>
                <a:spcPct val="0"/>
              </a:spcBef>
            </a:pPr>
            <a:r>
              <a:rPr lang="en-US" b="true" sz="36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17346" y="5847690"/>
            <a:ext cx="263030" cy="61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9"/>
              </a:lnSpc>
              <a:spcBef>
                <a:spcPct val="0"/>
              </a:spcBef>
            </a:pPr>
            <a:r>
              <a:rPr lang="en-US" b="true" sz="36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=</a:t>
            </a:r>
          </a:p>
        </p:txBody>
      </p:sp>
      <p:pic>
        <p:nvPicPr>
          <p:cNvPr name="Picture 29" id="29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9547" t="0" r="11340" b="0"/>
          <a:stretch>
            <a:fillRect/>
          </a:stretch>
        </p:blipFill>
        <p:spPr>
          <a:xfrm flipH="false" flipV="false" rot="0">
            <a:off x="11662310" y="4311104"/>
            <a:ext cx="5274907" cy="3756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817373" y="4827463"/>
            <a:ext cx="2441927" cy="19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  <a:spcBef>
                <a:spcPct val="0"/>
              </a:spcBef>
            </a:pPr>
            <a:r>
              <a:rPr lang="en-US" sz="11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Source: LearnOpenCV.com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0437" y="2400155"/>
            <a:ext cx="7912811" cy="54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Multiple Object Tracker (MOT)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Purpose: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Ideal for scenarios where multiple objects need to be detected and tracked.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Operation: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Begins with object detection, followed by tracking each detected object in single or consecutive frames.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Algorithms:</a:t>
            </a:r>
          </a:p>
          <a:p>
            <a:pPr algn="just" marL="949956" indent="-316652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DeepSORT </a:t>
            </a:r>
          </a:p>
          <a:p>
            <a:pPr algn="just" marL="949956" indent="-316652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FaitMOT </a:t>
            </a:r>
          </a:p>
          <a:p>
            <a:pPr algn="just" marL="949956" indent="-316652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ByteTrack </a:t>
            </a:r>
          </a:p>
          <a:p>
            <a:pPr algn="just" marL="949956" indent="-316652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otSORT 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Application: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Useful in high-density environments like urban traffic or crowded events where numerous objects interact dynamically.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91279" y="650854"/>
            <a:ext cx="6116398" cy="67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Multiple Object Tracker</a:t>
            </a:r>
          </a:p>
        </p:txBody>
      </p:sp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9081"/>
          <a:stretch>
            <a:fillRect/>
          </a:stretch>
        </p:blipFill>
        <p:spPr>
          <a:xfrm flipH="false" flipV="false" rot="0">
            <a:off x="9552736" y="3214151"/>
            <a:ext cx="7214827" cy="3691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3933036" y="2662183"/>
            <a:ext cx="10421929" cy="587102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241633" y="721697"/>
            <a:ext cx="5804735" cy="61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 Counting Methods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42188" y="1909865"/>
            <a:ext cx="8003624" cy="50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7"/>
              </a:lnSpc>
              <a:spcBef>
                <a:spcPct val="0"/>
              </a:spcBef>
            </a:pPr>
            <a:r>
              <a:rPr lang="en-US" sz="29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Whole-Frame: Counts all objects in the frame.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4247817" y="2811310"/>
            <a:ext cx="9792366" cy="5516366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241633" y="721697"/>
            <a:ext cx="5804735" cy="61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 Counting Methods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55513" y="2085341"/>
            <a:ext cx="11776974" cy="49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In/Out Counting: Distinguishes entries and exits in designated zones.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4061149" y="2869600"/>
            <a:ext cx="10169126" cy="5728608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5262446" y="2035369"/>
            <a:ext cx="7766533" cy="50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9"/>
              </a:lnSpc>
              <a:spcBef>
                <a:spcPct val="0"/>
              </a:spcBef>
            </a:pPr>
            <a:r>
              <a:rPr lang="en-US" sz="29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Zone-Based: Counting within a specific area.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43345" y="688639"/>
            <a:ext cx="5804735" cy="61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 Counting Methods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3750803" y="2925678"/>
            <a:ext cx="10789819" cy="6078265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368450" y="2035311"/>
            <a:ext cx="11554524" cy="109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Line Counting: Tallying objects as they cross a predefined line.</a:t>
            </a:r>
          </a:p>
          <a:p>
            <a:pPr algn="ctr">
              <a:lnSpc>
                <a:spcPts val="4423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241633" y="688639"/>
            <a:ext cx="5804735" cy="61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 Counting Methods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DAGz8zlK2UM</dc:identifier>
  <dcterms:modified xsi:type="dcterms:W3CDTF">2011-08-01T06:04:30Z</dcterms:modified>
  <cp:revision>1</cp:revision>
  <dc:title>نسخة من نسخة من Black Yellow Modern Minimalist Elegant Presentation</dc:title>
</cp:coreProperties>
</file>
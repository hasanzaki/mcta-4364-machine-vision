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3" r:id="rId5"/>
    <p:sldId id="274" r:id="rId6"/>
    <p:sldId id="278" r:id="rId7"/>
    <p:sldId id="259" r:id="rId8"/>
    <p:sldId id="260" r:id="rId9"/>
    <p:sldId id="261" r:id="rId10"/>
    <p:sldId id="277" r:id="rId11"/>
    <p:sldId id="262" r:id="rId12"/>
    <p:sldId id="263" r:id="rId13"/>
    <p:sldId id="265" r:id="rId14"/>
    <p:sldId id="264" r:id="rId15"/>
    <p:sldId id="266" r:id="rId16"/>
    <p:sldId id="275" r:id="rId17"/>
    <p:sldId id="267" r:id="rId18"/>
    <p:sldId id="268" r:id="rId19"/>
    <p:sldId id="269" r:id="rId20"/>
    <p:sldId id="270" r:id="rId21"/>
    <p:sldId id="271" r:id="rId22"/>
    <p:sldId id="272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421F2-2E36-4E80-92AC-8BA22326488D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CA23E-ED3C-4272-86AE-C2B4723AE21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417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DC7B-A86D-5299-1BBE-1246AF19D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B13E96-153A-1502-9774-737AB20A3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018B7-0CB9-5102-25BB-6C4F104E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3937D-D5DC-4C62-5296-6E88EA3F7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7F5C6-CE54-117F-822B-8A89FD97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68195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E5B4B-3A0E-1451-BA03-4ADB9D73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35A75-5481-4004-B48B-70273FF4B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0E851-0C93-435A-82DA-12C4AFF2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F2335-5667-B9DF-6424-76DBC82A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46AD9-4798-908A-E55C-2ABA9387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8291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0A0E7-D620-2339-EC1B-DE3205985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E7BD5-AD4A-1FDE-F926-DC564AE2D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325A2-F728-A719-8452-8E67BCFD7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9162C-A5FC-C9AD-A7B7-B71FED09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C4FA8-9A84-E160-EF07-BF69E4A02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668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6DAC9-7846-B81A-C8A3-7F4047F65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C86D7-DEB9-D2F9-468D-AACD219CD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92450-DB91-F4CB-C494-449BA5EEC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E29D0-3750-8F0E-0C09-D095022C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B42EB-B34D-3580-296C-6A64EA3A6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DF748-A729-ABBC-03C9-3D328771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02457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9A5D-BA7D-C271-DDB3-27F8535F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F1FC8-4AAA-9253-E503-2655090CB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1B7DE-6E04-E9E0-F2A7-9966A8430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38FD9A-DBDF-EDD3-0759-EE056141C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76749-11CF-3709-78C9-23F83BD93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4CE14-EB01-AA69-7306-7DA4AA0A2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052E8-835A-E2C6-488A-78C003C4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3F237A-7A59-B056-614F-5F12CFFF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194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3000-989B-5DB7-E39D-B11CEE11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72A0C-F7A5-703A-8A5F-46B116A8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2AFDB4-6FED-167B-5CCF-A5196C8C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EE826-7F48-7586-0B33-992DFE07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3957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DF4FC-A2A3-2471-0E30-23DFA6B67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4F22E-D7A5-3FDE-0FB4-BA435605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00701-4E8E-CC78-0B28-754E03D7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6757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42CAB-B1DC-C552-16BF-BAA17D5FC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1F304-D0E7-ECE9-D730-2231EF0D9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41F6F-CFD3-8642-52E6-6EF62F8BF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D9C4D-4212-16FC-2ABF-6FC5F79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6F97D-0D0C-5E53-F3B0-92F875B3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E655B-9795-B59F-0AE1-9B89D3BD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63176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DBE2-1219-92A6-339F-1CCD236C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6F180-C918-5D87-9F4F-6A6DC5734E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1CC48-BD84-610D-7DC2-93967939F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32494-2845-E352-3EBC-A575D2A2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33438-553E-A8B0-AA14-32E00EFF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D643D-999A-0A11-CBC0-7C769D26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8878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BEE6-6710-8C7A-161B-896C09226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810F7-1105-7EFA-6CFF-98ABF36A8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A38C2-BBC3-8DC4-4E1C-A2FF40233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734AC-4285-773E-1A2D-B9142DC3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F0ECF-CA00-BBEC-407C-44B58662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8684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37933C-FE18-9E4B-A2CA-85BDDE4709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139AFA-8C16-2932-6571-84E91C9A5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80D7D-8DFD-1D83-5C8F-F76674F66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AFBA8-18FF-7671-DFA0-84899213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CABCB-B502-4CB3-1C41-42A9AF98E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5941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56C0F-5B4C-FB4C-52CD-4E5D015D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302C1-DAED-E612-3B70-031FA18D7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B9032-72B7-F78E-C69C-6F82E91CD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093B7-F21D-4DC4-8B23-B81E24D654B8}" type="datetimeFigureOut">
              <a:rPr lang="en-MY" smtClean="0"/>
              <a:t>4/6/2025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0B96E-C155-BDED-0B9E-5BE5FE729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6D5A3-03B1-49F4-EF5E-1109C73F6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B6EFC5-0D57-4C53-B56E-5976B33EC8B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8008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shlab.net/" TargetMode="External"/><Relationship Id="rId2" Type="http://schemas.openxmlformats.org/officeDocument/2006/relationships/hyperlink" Target="https://www.open3d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tplotlib.org/" TargetMode="External"/><Relationship Id="rId5" Type="http://schemas.openxmlformats.org/officeDocument/2006/relationships/hyperlink" Target="https://pointclouds.org/" TargetMode="External"/><Relationship Id="rId4" Type="http://schemas.openxmlformats.org/officeDocument/2006/relationships/hyperlink" Target="https://unity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MatPixel/dataset-for-3d-pointcloud-processing-3d-deep-learning/blob/main/mug-only-vertices.ply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7 State-Of-The-Art Point Cloud Models for Autonomous Driving | Segments.ai">
            <a:extLst>
              <a:ext uri="{FF2B5EF4-FFF2-40B4-BE49-F238E27FC236}">
                <a16:creationId xmlns:a16="http://schemas.microsoft.com/office/drawing/2014/main" id="{E5F7C3EE-BCBD-0547-3B99-C1D7C361F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06"/>
          <a:stretch/>
        </p:blipFill>
        <p:spPr bwMode="auto"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noFill/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0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F3C838C-2E44-7BAC-CC05-8F916D42C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MY" sz="7200" b="1" dirty="0">
                <a:solidFill>
                  <a:srgbClr val="FFFFFF"/>
                </a:solidFill>
              </a:rPr>
              <a:t>3D Point Cloud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5B6D8-C0E9-6B1B-5428-8CFD6BB19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endParaRPr lang="en-MY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2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5040-9A06-0499-EA5D-A9C6ABEA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20425" cy="1325563"/>
          </a:xfrm>
        </p:spPr>
        <p:txBody>
          <a:bodyPr/>
          <a:lstStyle/>
          <a:p>
            <a:pPr algn="l">
              <a:lnSpc>
                <a:spcPts val="225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Tools &amp; libraries for Point Cloud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A432F-3BB0-C8FE-8F1D-FE753991F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5426"/>
            <a:ext cx="10725150" cy="4857750"/>
          </a:xfrm>
        </p:spPr>
        <p:txBody>
          <a:bodyPr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2000" b="1" i="1" dirty="0">
                <a:solidFill>
                  <a:srgbClr val="242424"/>
                </a:solidFill>
                <a:effectLst/>
                <a:latin typeface="source-serif-pro"/>
              </a:rPr>
              <a:t>1.Open3D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: A powerful open-source library for 3D data processing and point cloud visualization.</a:t>
            </a:r>
          </a:p>
          <a:p>
            <a:pPr algn="l">
              <a:lnSpc>
                <a:spcPts val="2400"/>
              </a:lnSpc>
            </a:pPr>
            <a:r>
              <a:rPr lang="en-US" sz="2000" b="0" i="0" u="sng" dirty="0">
                <a:solidFill>
                  <a:srgbClr val="242424"/>
                </a:solidFill>
                <a:effectLst/>
                <a:latin typeface="source-serif-pro"/>
                <a:hlinkClick r:id="rId2"/>
              </a:rPr>
              <a:t>https://www.open3d.org/</a:t>
            </a:r>
            <a:endParaRPr lang="en-US" sz="20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</a:pPr>
            <a:r>
              <a:rPr lang="en-US" sz="2000" b="1" i="1" dirty="0">
                <a:solidFill>
                  <a:srgbClr val="242424"/>
                </a:solidFill>
                <a:effectLst/>
                <a:latin typeface="source-serif-pro"/>
              </a:rPr>
              <a:t>2. MeshLab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: An open-source tool for processing and editing 3D triangular meshes and point clouds.</a:t>
            </a:r>
          </a:p>
          <a:p>
            <a:pPr algn="l">
              <a:lnSpc>
                <a:spcPts val="2400"/>
              </a:lnSpc>
            </a:pPr>
            <a:r>
              <a:rPr lang="en-US" sz="2000" b="0" i="0" u="sng" dirty="0">
                <a:solidFill>
                  <a:srgbClr val="242424"/>
                </a:solidFill>
                <a:effectLst/>
                <a:latin typeface="source-serif-pro"/>
                <a:hlinkClick r:id="rId3"/>
              </a:rPr>
              <a:t>https://www.meshlab.net/</a:t>
            </a:r>
            <a:endParaRPr lang="en-US" sz="20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</a:pPr>
            <a:r>
              <a:rPr lang="en-US" sz="2000" b="1" i="1" dirty="0">
                <a:solidFill>
                  <a:srgbClr val="242424"/>
                </a:solidFill>
                <a:effectLst/>
                <a:latin typeface="source-serif-pro"/>
              </a:rPr>
              <a:t>3. Unity 3D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: A game development platform that can be used for interactive point cloud visualization.</a:t>
            </a:r>
          </a:p>
          <a:p>
            <a:pPr algn="l">
              <a:lnSpc>
                <a:spcPts val="2400"/>
              </a:lnSpc>
            </a:pPr>
            <a:r>
              <a:rPr lang="en-US" sz="2000" b="0" i="0" u="sng" dirty="0">
                <a:solidFill>
                  <a:srgbClr val="242424"/>
                </a:solidFill>
                <a:effectLst/>
                <a:latin typeface="source-serif-pro"/>
                <a:hlinkClick r:id="rId4"/>
              </a:rPr>
              <a:t>https://unity.com/</a:t>
            </a:r>
            <a:endParaRPr lang="en-US" sz="20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</a:pPr>
            <a:r>
              <a:rPr lang="en-US" sz="2000" b="1" i="1" dirty="0">
                <a:solidFill>
                  <a:srgbClr val="242424"/>
                </a:solidFill>
                <a:effectLst/>
                <a:latin typeface="source-serif-pro"/>
              </a:rPr>
              <a:t>4. PCL (Point Cloud Library):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 An open-source library for point cloud processing and visualization.</a:t>
            </a:r>
          </a:p>
          <a:p>
            <a:pPr algn="l">
              <a:lnSpc>
                <a:spcPts val="2400"/>
              </a:lnSpc>
            </a:pPr>
            <a:r>
              <a:rPr lang="en-US" sz="2000" b="0" i="0" u="sng" dirty="0">
                <a:solidFill>
                  <a:srgbClr val="242424"/>
                </a:solidFill>
                <a:effectLst/>
                <a:latin typeface="source-serif-pro"/>
                <a:hlinkClick r:id="rId5"/>
              </a:rPr>
              <a:t>https://pointclouds.org/</a:t>
            </a:r>
            <a:endParaRPr lang="en-US" sz="20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</a:pPr>
            <a:r>
              <a:rPr lang="en-US" sz="2000" b="1" i="1" dirty="0">
                <a:solidFill>
                  <a:srgbClr val="242424"/>
                </a:solidFill>
                <a:effectLst/>
                <a:latin typeface="source-serif-pro"/>
              </a:rPr>
              <a:t>5. Matplotlib</a:t>
            </a:r>
            <a:r>
              <a:rPr lang="en-US" sz="2000" b="0" i="1" dirty="0">
                <a:solidFill>
                  <a:srgbClr val="242424"/>
                </a:solidFill>
                <a:effectLst/>
                <a:latin typeface="source-serif-pro"/>
              </a:rPr>
              <a:t>:</a:t>
            </a:r>
            <a:r>
              <a:rPr lang="en-US" sz="2000" b="0" i="0" dirty="0">
                <a:solidFill>
                  <a:srgbClr val="242424"/>
                </a:solidFill>
                <a:effectLst/>
                <a:latin typeface="source-serif-pro"/>
              </a:rPr>
              <a:t> A open-source library can be used for basic point cloud visualization.</a:t>
            </a:r>
          </a:p>
          <a:p>
            <a:pPr algn="l">
              <a:lnSpc>
                <a:spcPts val="2400"/>
              </a:lnSpc>
            </a:pPr>
            <a:r>
              <a:rPr lang="en-US" sz="2000" b="0" i="0" u="sng" dirty="0">
                <a:solidFill>
                  <a:srgbClr val="242424"/>
                </a:solidFill>
                <a:effectLst/>
                <a:latin typeface="source-serif-pro"/>
                <a:hlinkClick r:id="rId6"/>
              </a:rPr>
              <a:t>https://matplotlib.org/</a:t>
            </a:r>
            <a:endParaRPr lang="en-US" sz="2000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2863380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6083E-5A79-DB97-F690-D55E80C09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97E80-6CF6-9427-82D1-8C66E924E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20425" cy="1325563"/>
          </a:xfrm>
        </p:spPr>
        <p:txBody>
          <a:bodyPr/>
          <a:lstStyle/>
          <a:p>
            <a:pPr algn="l">
              <a:lnSpc>
                <a:spcPts val="2250"/>
              </a:lnSpc>
            </a:pPr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Tools &amp; libraries for Point Cloud Visualization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AFAD15-0453-6AFA-C8B9-50E2DF42E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476ACDF-A104-B81A-673A-963ED6252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922901"/>
            <a:ext cx="10678233" cy="2501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9665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4892-7932-A104-C0A0-4A9BD1D0E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Tools for visualizing </a:t>
            </a:r>
            <a:r>
              <a:rPr lang="en-MY" dirty="0" err="1"/>
              <a:t>pcloud</a:t>
            </a:r>
            <a:r>
              <a:rPr lang="en-MY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24315-F825-0C62-F328-55EBACB33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31D2D-4D24-714A-BABA-C161CC3AA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948" y="1782878"/>
            <a:ext cx="9426104" cy="47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03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4E2D8C-2ED5-DD27-4882-7FBC9F5BD3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984078"/>
            <a:ext cx="10905066" cy="2889842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91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2A6D72-F3F4-F127-9C24-B8AF59320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75359"/>
            <a:ext cx="10905066" cy="4907280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1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43506AE-D7F2-851A-1F33-B90A05C3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D14EFB-9A0C-855C-9322-2F82E15C5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b="0" i="0">
                <a:effectLst/>
              </a:rPr>
              <a:t>The “</a:t>
            </a:r>
            <a:r>
              <a:rPr lang="en-US" sz="1800" b="1" i="1">
                <a:effectLst/>
              </a:rPr>
              <a:t>mug-only-vertices.ply”</a:t>
            </a:r>
            <a:r>
              <a:rPr lang="en-US" sz="1800" b="0" i="0">
                <a:effectLst/>
              </a:rPr>
              <a:t> file can be download from </a:t>
            </a:r>
            <a:r>
              <a:rPr lang="en-US" sz="1800" b="0" i="0" u="sng">
                <a:effectLst/>
                <a:hlinkClick r:id="rId2"/>
              </a:rPr>
              <a:t>https://github.com/MatPixel/dataset-for-3d-pointcloud-processing-3d-deep-learning/blob/main/mug-only-vertices.ply</a:t>
            </a:r>
            <a:endParaRPr lang="en-US" sz="180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1462BA7-86E0-4031-AC86-CFDCC240E4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531237" y="625683"/>
            <a:ext cx="4149581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42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C4382B-9BA8-AA60-B789-4005B591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0" i="0" dirty="0">
                <a:solidFill>
                  <a:srgbClr val="242424"/>
                </a:solidFill>
                <a:effectLst/>
                <a:latin typeface="source-serif-pro"/>
              </a:rPr>
              <a:t>Visualization using Matplotlib</a:t>
            </a:r>
            <a:endParaRPr lang="en-MY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3C01-861F-E5DA-CD00-5E3EE3BB5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9E8856-1A72-38B3-3867-C614384ED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364" y="1925722"/>
            <a:ext cx="4454215" cy="4151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1172BE-783B-734C-5785-C8E890CD5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298" y="1690688"/>
            <a:ext cx="2960477" cy="446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748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0BFCB-123A-4247-F3B9-524C4143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2FF424-E1EB-C624-070C-FE64230F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0" i="0" dirty="0">
                <a:solidFill>
                  <a:srgbClr val="242424"/>
                </a:solidFill>
                <a:effectLst/>
                <a:latin typeface="source-serif-pro"/>
              </a:rPr>
              <a:t>Visualization using Open3D</a:t>
            </a:r>
            <a:endParaRPr lang="en-MY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DFFFD-CDE0-BB98-5199-8813C5995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F2FD07-F9BB-02B2-072C-B3A6CB9A2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298" y="1690688"/>
            <a:ext cx="2960477" cy="446829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AFD524ED-05BF-8901-9B3B-6D9F57ECC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873" y="1785938"/>
            <a:ext cx="5019675" cy="43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01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67FBE1-7E4A-7354-E506-A476334A36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988991"/>
            <a:ext cx="10905066" cy="4880016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54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055B-9145-46B7-1E8A-A4D263F75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PCD to Mesh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353E5-27D3-5B67-FFCC-0A9175BE7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WHY?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Surface Reconstruction: 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Point clouds are collections of discrete points in 3D space, which can be irregularly sampled. Converting them to a mesh creates a continuous surface representation, making it easier to visualize and analyze.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Visualization: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Meshes offer smoother and visually appealing representations, ideal for 3D graphics and simulation applications.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Computational Geometry: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Meshes simplify geometric algorithms like collision detection and ray tracing, making them more efficient than point clouds.</a:t>
            </a:r>
          </a:p>
        </p:txBody>
      </p:sp>
    </p:spTree>
    <p:extLst>
      <p:ext uri="{BB962C8B-B14F-4D97-AF65-F5344CB8AC3E}">
        <p14:creationId xmlns:p14="http://schemas.microsoft.com/office/powerpoint/2010/main" val="2568242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2F4D-D3D6-886D-FDD1-DA2B2E2D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A2FF-9852-8234-C744-5CED7CD9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PCD to Mesh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9B12D-25D4-1DC4-62E0-CB0583853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WHY NOT?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Increased Complexity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Meshes have more complex data structures, making some operations more challenging.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Mesh Artifacts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Meshes can have artifacts like gaps or non-manifold geometry, depending on the reconstruction method.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Information Loss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Converting to meshes can lose fine-grained details from the original point cloud.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837386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924E-4E73-AA2D-C17A-BA892C5E7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4BA83-5A71-06E0-4374-78088CEFE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8513"/>
          </a:xfrm>
        </p:spPr>
        <p:txBody>
          <a:bodyPr/>
          <a:lstStyle/>
          <a:p>
            <a:r>
              <a:rPr lang="en-MY" dirty="0"/>
              <a:t>PCD to Mesh Conversion: CODE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EA5CF8-739D-579E-AEDB-5D3FE9C67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CB1B7-92FC-866F-C6AC-887E03ED7E36}"/>
              </a:ext>
            </a:extLst>
          </p:cNvPr>
          <p:cNvSpPr txBox="1"/>
          <p:nvPr/>
        </p:nvSpPr>
        <p:spPr>
          <a:xfrm>
            <a:off x="914400" y="1323638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Import libraries</a:t>
            </a:r>
            <a:br>
              <a:rPr lang="en-MY" sz="900" dirty="0"/>
            </a:b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import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numpy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as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np</a:t>
            </a:r>
            <a:br>
              <a:rPr lang="en-MY" sz="900" dirty="0"/>
            </a:b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import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open3d </a:t>
            </a: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as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o3d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Load a point cloud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ply_file_path_read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"bunny-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pcd.ply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o3d.io.read_point_cloud(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ply_file_path_read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Compute </a:t>
            </a:r>
            <a:r>
              <a:rPr lang="en-MY" sz="900" b="0" i="0" dirty="0" err="1">
                <a:solidFill>
                  <a:srgbClr val="007400"/>
                </a:solidFill>
                <a:effectLst/>
                <a:latin typeface="source-code-pro"/>
              </a:rPr>
              <a:t>normals</a:t>
            </a: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 if PCD does not have</a:t>
            </a:r>
            <a:br>
              <a:rPr lang="en-MY" sz="900" dirty="0"/>
            </a:b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if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point_cloud.has_normals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() == </a:t>
            </a: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False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: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"Estimating 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normals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..."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point_cloud.estimate_normals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()</a:t>
            </a:r>
            <a:br>
              <a:rPr lang="en-MY" sz="900" dirty="0"/>
            </a:b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else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: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"PCD already has 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normals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. So, skip estimating 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normals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Orient the computed </a:t>
            </a:r>
            <a:r>
              <a:rPr lang="en-MY" sz="900" b="0" i="0" dirty="0" err="1">
                <a:solidFill>
                  <a:srgbClr val="007400"/>
                </a:solidFill>
                <a:effectLst/>
                <a:latin typeface="source-code-pro"/>
              </a:rPr>
              <a:t>normals</a:t>
            </a: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 w.r.t to the tangent plane. </a:t>
            </a:r>
            <a:br>
              <a:rPr lang="en-MY" sz="900" dirty="0"/>
            </a:b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This step will solve the normal direction issue. If this step is skipped, there might be holes in the mesh surfaces.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o3d.geometry.PointCloud.orient_normals_consistent_tangent_plane(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10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Estimate radius for rolling ball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distances =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point_cloud.compute_nearest_neighbor_distance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()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avg_dist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np.mean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(distances)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radius = 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1.5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*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avg_dist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"Minimum neighbour distance = {:.6f}"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.</a:t>
            </a: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format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np.</a:t>
            </a:r>
            <a:r>
              <a:rPr lang="en-MY" sz="900" b="0" i="0" dirty="0" err="1">
                <a:solidFill>
                  <a:srgbClr val="5C2699"/>
                </a:solidFill>
                <a:effectLst/>
                <a:latin typeface="source-code-pro"/>
              </a:rPr>
              <a:t>min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(distances)))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"Maximum neighbour distance = {:.6f}"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.</a:t>
            </a: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format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np.</a:t>
            </a:r>
            <a:r>
              <a:rPr lang="en-MY" sz="900" b="0" i="0" dirty="0" err="1">
                <a:solidFill>
                  <a:srgbClr val="5C2699"/>
                </a:solidFill>
                <a:effectLst/>
                <a:latin typeface="source-code-pro"/>
              </a:rPr>
              <a:t>max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(distances))) 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"Average neighbour distance = {:.6f}"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.</a:t>
            </a: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format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np.mean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(distances)))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mesh = o3d.geometry.TriangleMesh.create_from_point_cloud_ball_pivoting(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o3d.utility.DoubleVector([radius, radius * 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2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]))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"PCD Detail: {}"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.</a:t>
            </a: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format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"Mesh Details: {}"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.</a:t>
            </a: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format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(mesh))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Visualize and save the mesh generated from point cloud</a:t>
            </a:r>
            <a:br>
              <a:rPr lang="en-MY" sz="900" dirty="0"/>
            </a:b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#mesh.paint_uniform_color(np.array([0.5, 1.0, 0.5])) # to uniformly </a:t>
            </a:r>
            <a:r>
              <a:rPr lang="en-MY" sz="900" b="0" i="0" dirty="0" err="1">
                <a:solidFill>
                  <a:srgbClr val="007400"/>
                </a:solidFill>
                <a:effectLst/>
                <a:latin typeface="source-code-pro"/>
              </a:rPr>
              <a:t>color</a:t>
            </a: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 the surface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o3d.visualization.draw_geometries([mesh],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window_name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'mesh with estimated 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normals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'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width=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1200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height=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800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o3d.io.write_triangle_mesh(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"bunny-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pcd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-to-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mesh.ply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mesh,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write_ascii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True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endParaRPr lang="en-MY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E85311-436E-EBC6-69B4-946F460D7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704" y="2959637"/>
            <a:ext cx="4908829" cy="188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29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E945-1B4C-FF40-AE7B-4F7D3139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5512-842B-897A-A2E2-2EAEEE9DB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8614AD-DA99-A34B-893D-CE2D57279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80" y="2152506"/>
            <a:ext cx="3223539" cy="3314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705D23-1B42-4917-B17C-94CD050CD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453" y="2144885"/>
            <a:ext cx="3139712" cy="33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11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B36C-3D7C-D977-7055-0F92824B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PCD to Voxel Grid Conversion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32A1-E2D2-F683-ADAB-6BBD2F5D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WHY?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Regularization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Point clouds are often irregularly sampled. Converting them to a voxel grid imposes a regular structure, providing a more organized and standardized representation of the 3D space.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Quantization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Voxel grids quantize the 3D space into small cubes (voxels). This simplifies spatial indexing, allowing for efficient and uniform data processing.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Resampling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Voxel grids enable uniform resampling of the 3D space, allowing you to change the voxel size to control data resolution.</a:t>
            </a:r>
          </a:p>
          <a:p>
            <a:pPr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Medical Imaging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Voxel grids are used in medical imaging for representing volumetric data, such as CT scans and MRI images.</a:t>
            </a:r>
          </a:p>
          <a:p>
            <a:pPr marL="0" indent="0" algn="l">
              <a:lnSpc>
                <a:spcPts val="2400"/>
              </a:lnSpc>
              <a:buNone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66604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3B47D7-4C95-92CF-7AFB-86F4D7AD1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70779"/>
            <a:ext cx="10905066" cy="4716440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3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12D51-196C-70A6-2A71-4C534792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E800-0C72-A979-0118-0D426AFB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PCD to Voxel Grid Conversion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361C3-157D-D121-1B7B-9B3FF2237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WHY NOT?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Complexity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Voxel grids introduce additional data structures and indexing mechanisms, increasing computational complexity for certain operations.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Information Loss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: Fine-grained details present in the original point cloud can be lost depending on the voxel size.</a:t>
            </a:r>
          </a:p>
          <a:p>
            <a:pPr marL="0" indent="0" algn="l">
              <a:lnSpc>
                <a:spcPts val="2400"/>
              </a:lnSpc>
              <a:buNone/>
            </a:pP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14364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9724F-DEEF-291D-E716-EB3E8507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44218-ACCF-8523-3FAC-63FDEA80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PCD to Voxel Grid Conversion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5DA8E-1A5F-ECF6-0F99-E3E35F21A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32500" lnSpcReduction="20000"/>
          </a:bodyPr>
          <a:lstStyle/>
          <a:p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# Import libraries</a:t>
            </a:r>
            <a:br>
              <a:rPr lang="en-MY" dirty="0"/>
            </a:b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import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numpy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as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np</a:t>
            </a:r>
            <a:br>
              <a:rPr lang="en-MY" dirty="0"/>
            </a:b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import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open3d </a:t>
            </a: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as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o3d</a:t>
            </a:r>
            <a:br>
              <a:rPr lang="en-MY" dirty="0"/>
            </a:br>
            <a:br>
              <a:rPr lang="en-MY" dirty="0"/>
            </a:b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# Load a point cloud</a:t>
            </a: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ply_file_path_read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"bunny-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pcd.ply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= o3d.io.read_point_cloud(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ply_file_path_read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#point_cloud = </a:t>
            </a:r>
            <a:r>
              <a:rPr lang="en-MY" b="0" i="0" dirty="0" err="1">
                <a:solidFill>
                  <a:srgbClr val="007400"/>
                </a:solidFill>
                <a:effectLst/>
                <a:latin typeface="source-code-pro"/>
              </a:rPr>
              <a:t>point_cloud.uniform_down_sample</a:t>
            </a: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007400"/>
                </a:solidFill>
                <a:effectLst/>
                <a:latin typeface="source-code-pro"/>
              </a:rPr>
              <a:t>every_k_points</a:t>
            </a: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=10) # if there are huge points</a:t>
            </a: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point_cloud.scale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1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/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np.</a:t>
            </a:r>
            <a:r>
              <a:rPr lang="en-MY" b="0" i="0" dirty="0" err="1">
                <a:solidFill>
                  <a:srgbClr val="5C2699"/>
                </a:solidFill>
                <a:effectLst/>
                <a:latin typeface="source-code-pro"/>
              </a:rPr>
              <a:t>max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point_cloud.get_max_bound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() -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point_cloud.get_min_bound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()),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center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point_cloud.get_center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()) </a:t>
            </a: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# Fit to unit cube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o3d.io.write_point_cloud(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"bunny-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pcd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-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unitcube.ply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write_ascii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True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br>
              <a:rPr lang="en-MY" dirty="0"/>
            </a:b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# Estimate radius for rolling ball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distances =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point_cloud.compute_nearest_neighbor_distance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()</a:t>
            </a: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avg_dist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np.mean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(distances)</a:t>
            </a:r>
            <a:br>
              <a:rPr lang="en-MY" dirty="0"/>
            </a:br>
            <a:r>
              <a:rPr lang="en-MY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f"Average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neighbour distance =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np.mean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(distances):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.6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br>
              <a:rPr lang="en-MY" dirty="0"/>
            </a:b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# Guess different voxel sizes based on points' distances</a:t>
            </a: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voxelsize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np.</a:t>
            </a:r>
            <a:r>
              <a:rPr lang="en-MY" b="0" i="0" dirty="0" err="1">
                <a:solidFill>
                  <a:srgbClr val="5C2699"/>
                </a:solidFill>
                <a:effectLst/>
                <a:latin typeface="source-code-pro"/>
              </a:rPr>
              <a:t>round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avg_dist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5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voxelsize_half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voxelsize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/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2</a:t>
            </a: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voxelsize_double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voxelsize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*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2</a:t>
            </a:r>
            <a:br>
              <a:rPr lang="en-MY" dirty="0"/>
            </a:br>
            <a:br>
              <a:rPr lang="en-MY" dirty="0"/>
            </a:br>
            <a:r>
              <a:rPr lang="en-MY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f"Different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voxel size considered based on points' distances: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voxelsize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,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voxelsize_double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,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voxelsize_half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= o3d.geometry.VoxelGrid.create_from_point_cloud(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voxel_size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voxelsize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f"Voxel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center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in X,Y,Z =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voxel_grid.get_center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()}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f"Sample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Voxels: \n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voxel_grid.get_voxels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()[: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3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]}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o3d.visualization.draw_geometries([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], width=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1200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height=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800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o3d.io.write_voxel_grid(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"bunny-pcd-to-voxel-001-unitcube.ply"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write_ascii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True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= o3d.geometry.VoxelGrid.create_from_point_cloud(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voxel_size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voxelsize_half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o3d.visualization.draw_geometries([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], width=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1200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height=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800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o3d.io.write_voxel_grid(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"bunny-pcd-to-voxel-002-unitcube.ply"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write_ascii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True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f"Voxel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center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in X,Y,Z =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voxel_grid.get_center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()}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f"Sample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Voxels: \n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voxel_grid.get_voxels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()[: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3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]}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= o3d.geometry.VoxelGrid.create_from_point_cloud(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voxel_size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voxelsize_double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o3d.visualization.draw_geometries([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], width=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1200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height=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800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o3d.io.write_voxel_grid(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"bunny-pcd-to-voxel-003-unitcube.ply"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write_ascii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True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f"Voxel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center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in X,Y,Z =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voxel_grid.get_center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()}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f"Sample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Voxels: \n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voxel_grid.get_voxels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()[: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3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]}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204E1-3E3A-9536-49A3-F84E1A92F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725" y="1946984"/>
            <a:ext cx="4681109" cy="371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38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A381B-8DE6-3CFB-163A-2D3C779CB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FB99-67FA-891E-4C21-6407A8C4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424"/>
                </a:solidFill>
                <a:effectLst/>
                <a:latin typeface="sohne"/>
              </a:rPr>
              <a:t>PCD to Voxel Grid Conversion</a:t>
            </a:r>
            <a:endParaRPr lang="en-MY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EF5C7CC-7EBE-1960-2702-B64477ACF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4077" y="1825625"/>
            <a:ext cx="6322273" cy="3905587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23F167-2B69-2175-28DE-D0598303CD51}"/>
              </a:ext>
            </a:extLst>
          </p:cNvPr>
          <p:cNvSpPr txBox="1"/>
          <p:nvPr/>
        </p:nvSpPr>
        <p:spPr>
          <a:xfrm>
            <a:off x="2875739" y="5731212"/>
            <a:ext cx="6094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Plots from left to right and top to bottom: voxel grid with voxel size = 0.00644, 0.01288, 0.00322 and the combined one respectively.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075376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7D20-276B-0F3A-148C-254B0649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i="0" dirty="0">
                <a:solidFill>
                  <a:srgbClr val="242424"/>
                </a:solidFill>
                <a:effectLst/>
                <a:latin typeface="sohne"/>
              </a:rPr>
              <a:t>Visualizing 3D meshes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ADE2-44DF-550C-A0AE-E66E49F41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1050" cy="4351338"/>
          </a:xfrm>
        </p:spPr>
        <p:txBody>
          <a:bodyPr>
            <a:normAutofit fontScale="55000" lnSpcReduction="20000"/>
          </a:bodyPr>
          <a:lstStyle/>
          <a:p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# Import libraries</a:t>
            </a:r>
            <a:br>
              <a:rPr lang="en-MY" dirty="0"/>
            </a:b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import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numpy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as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np</a:t>
            </a:r>
            <a:br>
              <a:rPr lang="en-MY" dirty="0"/>
            </a:b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import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open3d </a:t>
            </a: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as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o3d</a:t>
            </a:r>
            <a:br>
              <a:rPr lang="en-MY" dirty="0"/>
            </a:br>
            <a:br>
              <a:rPr lang="en-MY" dirty="0"/>
            </a:b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# Load a mesh</a:t>
            </a: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ply_file_path_read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"bunny-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mesh.ply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mesh = o3d.io.read_triangle_mesh(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ply_file_path_read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mesh.compute_vertex_normals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()</a:t>
            </a:r>
            <a:br>
              <a:rPr lang="en-MY" dirty="0"/>
            </a:b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#mesh.scale(1 / </a:t>
            </a:r>
            <a:r>
              <a:rPr lang="en-MY" b="0" i="0" dirty="0" err="1">
                <a:solidFill>
                  <a:srgbClr val="007400"/>
                </a:solidFill>
                <a:effectLst/>
                <a:latin typeface="source-code-pro"/>
              </a:rPr>
              <a:t>np.max</a:t>
            </a: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007400"/>
                </a:solidFill>
                <a:effectLst/>
                <a:latin typeface="source-code-pro"/>
              </a:rPr>
              <a:t>mesh.get_max_bound</a:t>
            </a: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() - </a:t>
            </a:r>
            <a:r>
              <a:rPr lang="en-MY" b="0" i="0" dirty="0" err="1">
                <a:solidFill>
                  <a:srgbClr val="007400"/>
                </a:solidFill>
                <a:effectLst/>
                <a:latin typeface="source-code-pro"/>
              </a:rPr>
              <a:t>mesh.get_min_bound</a:t>
            </a: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()),</a:t>
            </a:r>
            <a:r>
              <a:rPr lang="en-MY" b="0" i="0" dirty="0" err="1">
                <a:solidFill>
                  <a:srgbClr val="007400"/>
                </a:solidFill>
                <a:effectLst/>
                <a:latin typeface="source-code-pro"/>
              </a:rPr>
              <a:t>center</a:t>
            </a: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=</a:t>
            </a:r>
            <a:r>
              <a:rPr lang="en-MY" b="0" i="0" dirty="0" err="1">
                <a:solidFill>
                  <a:srgbClr val="007400"/>
                </a:solidFill>
                <a:effectLst/>
                <a:latin typeface="source-code-pro"/>
              </a:rPr>
              <a:t>mesh.get_center</a:t>
            </a: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()) # Fit to unit cube</a:t>
            </a:r>
            <a:br>
              <a:rPr lang="en-MY" dirty="0"/>
            </a:br>
            <a:r>
              <a:rPr lang="en-MY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f"Number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of Vertices =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5C2699"/>
                </a:solidFill>
                <a:effectLst/>
                <a:latin typeface="source-code-pro"/>
              </a:rPr>
              <a:t>len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np.asarray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mesh.vertices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))}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f"Number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 of 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Triangales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(faces) = 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b="0" i="0" dirty="0" err="1">
                <a:solidFill>
                  <a:srgbClr val="5C2699"/>
                </a:solidFill>
                <a:effectLst/>
                <a:latin typeface="source-code-pro"/>
              </a:rPr>
              <a:t>len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np.asarray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b="0" i="0" dirty="0" err="1">
                <a:solidFill>
                  <a:srgbClr val="000000"/>
                </a:solidFill>
                <a:effectLst/>
                <a:latin typeface="source-code-pro"/>
              </a:rPr>
              <a:t>mesh.triangles</a:t>
            </a:r>
            <a:r>
              <a:rPr lang="en-MY" b="0" i="0" dirty="0">
                <a:solidFill>
                  <a:srgbClr val="000000"/>
                </a:solidFill>
                <a:effectLst/>
                <a:latin typeface="source-code-pro"/>
              </a:rPr>
              <a:t>))}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br>
              <a:rPr lang="en-MY" dirty="0"/>
            </a:b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# Convert mesh to </a:t>
            </a:r>
            <a:r>
              <a:rPr lang="en-MY" b="0" i="0" dirty="0" err="1">
                <a:solidFill>
                  <a:srgbClr val="007400"/>
                </a:solidFill>
                <a:effectLst/>
                <a:latin typeface="source-code-pro"/>
              </a:rPr>
              <a:t>pcd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points =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mesh.vertices</a:t>
            </a:r>
            <a:br>
              <a:rPr lang="en-MY" dirty="0"/>
            </a:b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 = o3d.geometry.PointCloud(points)</a:t>
            </a:r>
            <a:br>
              <a:rPr lang="en-MY" dirty="0"/>
            </a:br>
            <a:br>
              <a:rPr lang="en-MY" dirty="0"/>
            </a:br>
            <a:r>
              <a:rPr lang="en-MY" b="0" i="0" dirty="0">
                <a:solidFill>
                  <a:srgbClr val="007400"/>
                </a:solidFill>
                <a:effectLst/>
                <a:latin typeface="source-code-pro"/>
              </a:rPr>
              <a:t># Visualize and save the point cloud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o3d.visualization.draw_geometries([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], width=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1200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height=</a:t>
            </a:r>
            <a:r>
              <a:rPr lang="en-MY" b="0" i="0" dirty="0">
                <a:solidFill>
                  <a:srgbClr val="1C00CF"/>
                </a:solidFill>
                <a:effectLst/>
                <a:latin typeface="source-code-pro"/>
              </a:rPr>
              <a:t>800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dirty="0"/>
            </a:b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o3d.io.write_point_cloud(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"bunny-mesh-to-</a:t>
            </a:r>
            <a:r>
              <a:rPr lang="en-MY" b="0" i="0" dirty="0" err="1">
                <a:solidFill>
                  <a:srgbClr val="C41A16"/>
                </a:solidFill>
                <a:effectLst/>
                <a:latin typeface="source-code-pro"/>
              </a:rPr>
              <a:t>pcd.ply</a:t>
            </a:r>
            <a:r>
              <a:rPr lang="en-MY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point_cloud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b="0" i="0" dirty="0" err="1">
                <a:solidFill>
                  <a:srgbClr val="242424"/>
                </a:solidFill>
                <a:effectLst/>
                <a:latin typeface="source-code-pro"/>
              </a:rPr>
              <a:t>write_ascii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b="0" i="0" dirty="0">
                <a:solidFill>
                  <a:srgbClr val="AA0D91"/>
                </a:solidFill>
                <a:effectLst/>
                <a:latin typeface="source-code-pro"/>
              </a:rPr>
              <a:t>True</a:t>
            </a:r>
            <a:r>
              <a:rPr lang="en-MY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B1964A-45AB-C148-28C4-175737E20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580" y="1690688"/>
            <a:ext cx="4968671" cy="13488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40287C-C359-EFE1-602B-8CB27F281199}"/>
              </a:ext>
            </a:extLst>
          </p:cNvPr>
          <p:cNvSpPr txBox="1"/>
          <p:nvPr/>
        </p:nvSpPr>
        <p:spPr>
          <a:xfrm>
            <a:off x="5618939" y="3818455"/>
            <a:ext cx="60943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From the above code, the commented line is meant to make the mesh fit into a unit cube by scaling around the center. This step is often used in real-time projects where multiple meshes are involved for processing.</a:t>
            </a:r>
          </a:p>
          <a:p>
            <a:endParaRPr lang="en-US" dirty="0">
              <a:solidFill>
                <a:srgbClr val="242424"/>
              </a:solidFill>
              <a:latin typeface="source-serif-pro"/>
            </a:endParaRPr>
          </a:p>
          <a:p>
            <a:endParaRPr lang="en-MY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B686C72-4E00-C14C-56E5-DEB590E44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1617" y="5167312"/>
            <a:ext cx="4231533" cy="943735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55488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7400"/>
                </a:solidFill>
                <a:effectLst/>
                <a:latin typeface="source-code-pro"/>
              </a:rPr>
              <a:t>#mesh.scale(1 /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7400"/>
                </a:solidFill>
                <a:effectLst/>
                <a:latin typeface="source-code-pro"/>
              </a:rPr>
              <a:t>np.max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7400"/>
                </a:solidFill>
                <a:effectLst/>
                <a:latin typeface="source-code-pro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7400"/>
                </a:solidFill>
                <a:effectLst/>
                <a:latin typeface="source-code-pro"/>
              </a:rPr>
              <a:t>mesh.get_max_bound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7400"/>
                </a:solidFill>
                <a:effectLst/>
                <a:latin typeface="source-code-pro"/>
              </a:rPr>
              <a:t>() -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7400"/>
                </a:solidFill>
                <a:effectLst/>
                <a:latin typeface="source-code-pro"/>
              </a:rPr>
              <a:t>mesh.get_min_bound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7400"/>
                </a:solidFill>
                <a:effectLst/>
                <a:latin typeface="source-code-pro"/>
              </a:rPr>
              <a:t>()),center=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7400"/>
                </a:solidFill>
                <a:effectLst/>
                <a:latin typeface="source-code-pro"/>
              </a:rPr>
              <a:t>mesh.get_center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7400"/>
                </a:solidFill>
                <a:effectLst/>
                <a:latin typeface="source-code-pro"/>
              </a:rPr>
              <a:t>()) # Fit to unit cube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47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437AF-522D-7533-1336-0FECB6BF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5933F-5330-E986-BAE9-9454CB41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i="0" dirty="0">
                <a:solidFill>
                  <a:srgbClr val="242424"/>
                </a:solidFill>
                <a:effectLst/>
                <a:latin typeface="sohne"/>
              </a:rPr>
              <a:t>Meshes to PCD Conversion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71E9A3-96A2-F64A-52ED-EBBF41C55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129" y="2652437"/>
            <a:ext cx="4968671" cy="1348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E24639-BFED-69B6-BEE8-7E1F703B3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189" y="1690688"/>
            <a:ext cx="2084169" cy="459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92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D2F0B-790C-8C87-BBCA-D289D217B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503B-BEA2-94B5-43E1-97919AC9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7274" y="219075"/>
            <a:ext cx="6524625" cy="976313"/>
          </a:xfrm>
        </p:spPr>
        <p:txBody>
          <a:bodyPr/>
          <a:lstStyle/>
          <a:p>
            <a:r>
              <a:rPr lang="en-MY" b="1" i="0" dirty="0">
                <a:solidFill>
                  <a:srgbClr val="242424"/>
                </a:solidFill>
                <a:effectLst/>
                <a:latin typeface="sohne"/>
              </a:rPr>
              <a:t>Meshes to Voxel Grid</a:t>
            </a:r>
            <a:endParaRPr lang="en-MY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E5B91-F815-E21E-14E7-4A54E5D19EC6}"/>
              </a:ext>
            </a:extLst>
          </p:cNvPr>
          <p:cNvSpPr txBox="1"/>
          <p:nvPr/>
        </p:nvSpPr>
        <p:spPr>
          <a:xfrm>
            <a:off x="609600" y="128096"/>
            <a:ext cx="6096000" cy="660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Import libraries</a:t>
            </a:r>
            <a:br>
              <a:rPr lang="en-MY" sz="900" dirty="0"/>
            </a:b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import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numpy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as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np</a:t>
            </a:r>
            <a:br>
              <a:rPr lang="en-MY" sz="900" dirty="0"/>
            </a:b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import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open3d </a:t>
            </a: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as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o3d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Load a mesh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ply_file_path_read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"bunny-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mesh.ply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mesh = o3d.io.read_triangle_mesh(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ply_file_path_read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mesh.compute_vertex_normals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()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mesh.scale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1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/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np.</a:t>
            </a:r>
            <a:r>
              <a:rPr lang="en-MY" sz="900" b="0" i="0" dirty="0" err="1">
                <a:solidFill>
                  <a:srgbClr val="5C2699"/>
                </a:solidFill>
                <a:effectLst/>
                <a:latin typeface="source-code-pro"/>
              </a:rPr>
              <a:t>max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mesh.get_max_bound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() -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mesh.get_min_bound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()),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center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mesh.get_center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()) </a:t>
            </a: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Fit to unit cube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f"Number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of Vertices in the mesh =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5C2699"/>
                </a:solidFill>
                <a:effectLst/>
                <a:latin typeface="source-code-pro"/>
              </a:rPr>
              <a:t>len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np.asarray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mesh.vertices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))}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f"Number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of Triangles(faces) in the mesh =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5C2699"/>
                </a:solidFill>
                <a:effectLst/>
                <a:latin typeface="source-code-pro"/>
              </a:rPr>
              <a:t>len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np.asarray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mesh.triangles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))}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o3d.io.write_triangle_mesh(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"bunny-mesh-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unitcube.ply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mesh,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write_ascii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True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Compute points distances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pcd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o3d.geometry.PointCloud()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pcd.points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o3d.utility.Vector3dVector(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mesh.vertices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distances =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pcd.compute_nearest_neighbor_distance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()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avg_dist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np.mean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(distances)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f"Average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neighbour distance =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np.mean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(distances):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.6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Guess different voxel sizes based on points' distances (</a:t>
            </a:r>
            <a:r>
              <a:rPr lang="en-MY" sz="900" b="0" i="0" dirty="0" err="1">
                <a:solidFill>
                  <a:srgbClr val="007400"/>
                </a:solidFill>
                <a:effectLst/>
                <a:latin typeface="source-code-pro"/>
              </a:rPr>
              <a:t>KDTree</a:t>
            </a: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 approach also can be used)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voxelsize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np.</a:t>
            </a:r>
            <a:r>
              <a:rPr lang="en-MY" sz="900" b="0" i="0" dirty="0" err="1">
                <a:solidFill>
                  <a:srgbClr val="5C2699"/>
                </a:solidFill>
                <a:effectLst/>
                <a:latin typeface="source-code-pro"/>
              </a:rPr>
              <a:t>round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avg_dist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5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voxelsize_half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voxelsize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/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2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voxelsize_double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voxelsize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*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2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f"Different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voxel size considered based on points' distances: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voxelsize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,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voxelsize_double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,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voxelsize_half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>
                <a:solidFill>
                  <a:srgbClr val="007400"/>
                </a:solidFill>
                <a:effectLst/>
                <a:latin typeface="source-code-pro"/>
              </a:rPr>
              <a:t># Convert mesh to </a:t>
            </a:r>
            <a:r>
              <a:rPr lang="en-MY" sz="900" b="0" i="0" dirty="0" err="1">
                <a:solidFill>
                  <a:srgbClr val="007400"/>
                </a:solidFill>
                <a:effectLst/>
                <a:latin typeface="source-code-pro"/>
              </a:rPr>
              <a:t>pcd</a:t>
            </a: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o3d.geometry.VoxelGrid.create_from_triangle_mesh(mesh,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voxel_size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voxelsize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f"Voxel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center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in X,Y,Z =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voxel_grid.get_center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()}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f"Number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of voxels =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5C2699"/>
                </a:solidFill>
                <a:effectLst/>
                <a:latin typeface="source-code-pro"/>
              </a:rPr>
              <a:t>len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np.asarray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voxel_grid.get_voxels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()))}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f"Sample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Voxels: \n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voxel_grid.get_voxels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()[: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3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]}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o3d.visualization.draw_geometries([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], width=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1200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height=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800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o3d.io.write_voxel_grid(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"bunny-mesh-to-voxel-001-unitcube.ply"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write_ascii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True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o3d.geometry.VoxelGrid.create_from_triangle_mesh(mesh,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voxel_size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voxelsize_half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f"Voxel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center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in X,Y,Z =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voxel_grid.get_center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()}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f"Number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of voxels =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5C2699"/>
                </a:solidFill>
                <a:effectLst/>
                <a:latin typeface="source-code-pro"/>
              </a:rPr>
              <a:t>len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np.asarray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voxel_grid.get_voxels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()))}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f"Sample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Voxels: \n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voxel_grid.get_voxels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()[: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3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]}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o3d.visualization.draw_geometries([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], width=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1200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height=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800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o3d.io.write_voxel_grid(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"bunny-mesh-to-voxel-002-unitcube.ply"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write_ascii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True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br>
              <a:rPr lang="en-MY" sz="900" dirty="0"/>
            </a:b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 = o3d.geometry.VoxelGrid.create_from_triangle_mesh(mesh,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voxel_size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voxelsize_double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f"Voxel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center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in X,Y,Z =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voxel_grid.get_center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()}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f"Number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of voxels =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5C2699"/>
                </a:solidFill>
                <a:effectLst/>
                <a:latin typeface="source-code-pro"/>
              </a:rPr>
              <a:t>len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np.asarray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voxel_grid.get_voxels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()))}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MY" sz="900" b="0" i="0" dirty="0" err="1">
                <a:solidFill>
                  <a:srgbClr val="C41A16"/>
                </a:solidFill>
                <a:effectLst/>
                <a:latin typeface="source-code-pro"/>
              </a:rPr>
              <a:t>f"Sample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 Voxels: \n 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{</a:t>
            </a:r>
            <a:r>
              <a:rPr lang="en-MY" sz="900" b="0" i="0" dirty="0" err="1">
                <a:solidFill>
                  <a:srgbClr val="000000"/>
                </a:solidFill>
                <a:effectLst/>
                <a:latin typeface="source-code-pro"/>
              </a:rPr>
              <a:t>voxel_grid.get_voxels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()[: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3</a:t>
            </a:r>
            <a:r>
              <a:rPr lang="en-MY" sz="900" b="0" i="0" dirty="0">
                <a:solidFill>
                  <a:srgbClr val="000000"/>
                </a:solidFill>
                <a:effectLst/>
                <a:latin typeface="source-code-pro"/>
              </a:rPr>
              <a:t>]}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o3d.visualization.draw_geometries([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], width=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1200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height=</a:t>
            </a:r>
            <a:r>
              <a:rPr lang="en-MY" sz="900" b="0" i="0" dirty="0">
                <a:solidFill>
                  <a:srgbClr val="1C00CF"/>
                </a:solidFill>
                <a:effectLst/>
                <a:latin typeface="source-code-pro"/>
              </a:rPr>
              <a:t>800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MY" sz="900" dirty="0"/>
            </a:b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o3d.io.write_voxel_grid(</a:t>
            </a:r>
            <a:r>
              <a:rPr lang="en-MY" sz="900" b="0" i="0" dirty="0">
                <a:solidFill>
                  <a:srgbClr val="C41A16"/>
                </a:solidFill>
                <a:effectLst/>
                <a:latin typeface="source-code-pro"/>
              </a:rPr>
              <a:t>"bunny-mesh-to-voxel-003-unitcube.ply"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voxel_grid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MY" sz="900" b="0" i="0" dirty="0" err="1">
                <a:solidFill>
                  <a:srgbClr val="242424"/>
                </a:solidFill>
                <a:effectLst/>
                <a:latin typeface="source-code-pro"/>
              </a:rPr>
              <a:t>write_ascii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=</a:t>
            </a:r>
            <a:r>
              <a:rPr lang="en-MY" sz="900" b="0" i="0" dirty="0">
                <a:solidFill>
                  <a:srgbClr val="AA0D91"/>
                </a:solidFill>
                <a:effectLst/>
                <a:latin typeface="source-code-pro"/>
              </a:rPr>
              <a:t>True</a:t>
            </a:r>
            <a:r>
              <a:rPr lang="en-MY" sz="9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endParaRPr lang="en-MY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AB86B4-7F35-C88D-2857-00FE096E7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430456"/>
            <a:ext cx="4511431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16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72A786-49BB-EE91-57FB-85336D937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48207"/>
            <a:ext cx="10905066" cy="556158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86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2686</Words>
  <Application>Microsoft Office PowerPoint</Application>
  <PresentationFormat>Widescreen</PresentationFormat>
  <Paragraphs>51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sohne</vt:lpstr>
      <vt:lpstr>source-code-pro</vt:lpstr>
      <vt:lpstr>source-serif-pro</vt:lpstr>
      <vt:lpstr>Office Theme</vt:lpstr>
      <vt:lpstr>3D Point Cloud Visualization</vt:lpstr>
      <vt:lpstr>Tools &amp; libraries for Point Cloud Visualization</vt:lpstr>
      <vt:lpstr>Tools &amp; libraries for Point Cloud Visualization</vt:lpstr>
      <vt:lpstr>Tools for visualizing pcloud data</vt:lpstr>
      <vt:lpstr>PowerPoint Presentation</vt:lpstr>
      <vt:lpstr>PowerPoint Presentation</vt:lpstr>
      <vt:lpstr>PowerPoint Presentation</vt:lpstr>
      <vt:lpstr>Visualization using Matplotlib</vt:lpstr>
      <vt:lpstr>Visualization using Open3D</vt:lpstr>
      <vt:lpstr>PowerPoint Presentation</vt:lpstr>
      <vt:lpstr>PCD to Mesh Conversion</vt:lpstr>
      <vt:lpstr>PCD to Mesh Conversion</vt:lpstr>
      <vt:lpstr>PCD to Mesh Conversion: CODE</vt:lpstr>
      <vt:lpstr>The output</vt:lpstr>
      <vt:lpstr>PCD to Voxel Grid Conversion</vt:lpstr>
      <vt:lpstr>PowerPoint Presentation</vt:lpstr>
      <vt:lpstr>PCD to Voxel Grid Conversion</vt:lpstr>
      <vt:lpstr>PCD to Voxel Grid Conversion</vt:lpstr>
      <vt:lpstr>PCD to Voxel Grid Conversion</vt:lpstr>
      <vt:lpstr>Visualizing 3D meshes</vt:lpstr>
      <vt:lpstr>Meshes to PCD Conversion</vt:lpstr>
      <vt:lpstr>Meshes to Voxel Grid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 FIRDAUS BIN MOHD ZAKI</dc:creator>
  <cp:lastModifiedBy>Hasan Firdaus</cp:lastModifiedBy>
  <cp:revision>26</cp:revision>
  <dcterms:created xsi:type="dcterms:W3CDTF">2024-12-31T03:34:59Z</dcterms:created>
  <dcterms:modified xsi:type="dcterms:W3CDTF">2025-06-04T04:34:21Z</dcterms:modified>
</cp:coreProperties>
</file>
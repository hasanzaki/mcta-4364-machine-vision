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1" r:id="rId4"/>
    <p:sldId id="258" r:id="rId5"/>
    <p:sldId id="259" r:id="rId6"/>
    <p:sldId id="260" r:id="rId7"/>
    <p:sldId id="262" r:id="rId8"/>
    <p:sldId id="266" r:id="rId9"/>
    <p:sldId id="263" r:id="rId10"/>
    <p:sldId id="264" r:id="rId11"/>
    <p:sldId id="265" r:id="rId12"/>
    <p:sldId id="267" r:id="rId13"/>
    <p:sldId id="268" r:id="rId14"/>
    <p:sldId id="269" r:id="rId15"/>
    <p:sldId id="270" r:id="rId16"/>
    <p:sldId id="271" r:id="rId17"/>
    <p:sldId id="273" r:id="rId18"/>
    <p:sldId id="272" r:id="rId19"/>
    <p:sldId id="274"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8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E3ECDD6-0A3D-48A0-85EF-E6BD6A72E86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BE1038A-7C08-49D3-9D98-5864C2E57E64}">
      <dgm:prSet/>
      <dgm:spPr/>
      <dgm:t>
        <a:bodyPr/>
        <a:lstStyle/>
        <a:p>
          <a:r>
            <a:rPr lang="en-US" b="1" i="0"/>
            <a:t>Point Clouds</a:t>
          </a:r>
          <a:r>
            <a:rPr lang="en-US" b="0" i="0"/>
            <a:t>: Point clouds are a fundamental data type in 3D computer vision and represent surfaces as a collection of points in 3D space. Each point in a point cloud is defined by its x, y, and z coordinates, which specify its position in the 3D world. Additionally, points in a point cloud may include other attributes such as color, intensity, or surface normals, which provide further information about the object’s appearance and structure.</a:t>
          </a:r>
          <a:endParaRPr lang="en-US"/>
        </a:p>
      </dgm:t>
    </dgm:pt>
    <dgm:pt modelId="{16EACD7E-BA9F-4684-9753-12FC1F0ABAC4}" type="parTrans" cxnId="{40D5464F-2FE6-4469-85E4-C9DA2393D14A}">
      <dgm:prSet/>
      <dgm:spPr/>
      <dgm:t>
        <a:bodyPr/>
        <a:lstStyle/>
        <a:p>
          <a:endParaRPr lang="en-US"/>
        </a:p>
      </dgm:t>
    </dgm:pt>
    <dgm:pt modelId="{3C97FEAA-E234-44F3-B6D5-D9E13DA15607}" type="sibTrans" cxnId="{40D5464F-2FE6-4469-85E4-C9DA2393D14A}">
      <dgm:prSet/>
      <dgm:spPr/>
      <dgm:t>
        <a:bodyPr/>
        <a:lstStyle/>
        <a:p>
          <a:endParaRPr lang="en-US"/>
        </a:p>
      </dgm:t>
    </dgm:pt>
    <dgm:pt modelId="{22C97B64-1C0D-4D72-86F4-A282AFC07C4D}">
      <dgm:prSet/>
      <dgm:spPr/>
      <dgm:t>
        <a:bodyPr/>
        <a:lstStyle/>
        <a:p>
          <a:r>
            <a:rPr lang="en-US" b="1" i="0"/>
            <a:t>Meshes</a:t>
          </a:r>
          <a:r>
            <a:rPr lang="en-US" b="0" i="0"/>
            <a:t>: A mesh is another common representation of 3D objects, defined by a set of vertices, edges, and faces. Vertices are points in 3D space, edges connect vertices, and faces are flat surfaces formed by connecting edges. Meshes are used to define the shape of an object’s surface with more detail than point clouds, as they can accurately represent the geometry of complex surfaces.</a:t>
          </a:r>
          <a:endParaRPr lang="en-US"/>
        </a:p>
      </dgm:t>
    </dgm:pt>
    <dgm:pt modelId="{F5CBCBCB-D689-457E-AC1C-73AAFDECC791}" type="parTrans" cxnId="{2D9407DA-F4B7-4D4F-A6E9-FF4A0E4EAB3D}">
      <dgm:prSet/>
      <dgm:spPr/>
      <dgm:t>
        <a:bodyPr/>
        <a:lstStyle/>
        <a:p>
          <a:endParaRPr lang="en-US"/>
        </a:p>
      </dgm:t>
    </dgm:pt>
    <dgm:pt modelId="{33A0375E-9F1A-489C-80B9-611FF994852B}" type="sibTrans" cxnId="{2D9407DA-F4B7-4D4F-A6E9-FF4A0E4EAB3D}">
      <dgm:prSet/>
      <dgm:spPr/>
      <dgm:t>
        <a:bodyPr/>
        <a:lstStyle/>
        <a:p>
          <a:endParaRPr lang="en-US"/>
        </a:p>
      </dgm:t>
    </dgm:pt>
    <dgm:pt modelId="{2ADA18DD-2DD2-4C22-B1FA-8C168A764AF9}">
      <dgm:prSet/>
      <dgm:spPr/>
      <dgm:t>
        <a:bodyPr/>
        <a:lstStyle/>
        <a:p>
          <a:r>
            <a:rPr lang="en-US" b="1" i="0"/>
            <a:t>Volumetric Data</a:t>
          </a:r>
          <a:r>
            <a:rPr lang="en-US" b="0" i="0"/>
            <a:t>: Volumetric data represents objects as a 3D grid, where each cell in the grid (voxel) contains information about the object’s properties at that point in space. This type of data is useful for representing objects that have volume, such as medical images of organs or industrial scans of machinery. Volumetric data can capture both the exterior surface and interior properties of objects, making it valuable for a wide range of applications.</a:t>
          </a:r>
          <a:endParaRPr lang="en-US"/>
        </a:p>
      </dgm:t>
    </dgm:pt>
    <dgm:pt modelId="{FAA22654-F8FA-4BBA-B19A-DE32BC8A2E8F}" type="parTrans" cxnId="{5CC801D2-7CE8-4784-86C9-73253CF0AA49}">
      <dgm:prSet/>
      <dgm:spPr/>
      <dgm:t>
        <a:bodyPr/>
        <a:lstStyle/>
        <a:p>
          <a:endParaRPr lang="en-US"/>
        </a:p>
      </dgm:t>
    </dgm:pt>
    <dgm:pt modelId="{21981898-9A2F-4C3B-A7D4-88EB7EC4A128}" type="sibTrans" cxnId="{5CC801D2-7CE8-4784-86C9-73253CF0AA49}">
      <dgm:prSet/>
      <dgm:spPr/>
      <dgm:t>
        <a:bodyPr/>
        <a:lstStyle/>
        <a:p>
          <a:endParaRPr lang="en-US"/>
        </a:p>
      </dgm:t>
    </dgm:pt>
    <dgm:pt modelId="{04B9B4C4-BDE0-414F-A780-64808117C8C4}" type="pres">
      <dgm:prSet presAssocID="{BE3ECDD6-0A3D-48A0-85EF-E6BD6A72E862}" presName="root" presStyleCnt="0">
        <dgm:presLayoutVars>
          <dgm:dir/>
          <dgm:resizeHandles val="exact"/>
        </dgm:presLayoutVars>
      </dgm:prSet>
      <dgm:spPr/>
    </dgm:pt>
    <dgm:pt modelId="{E2D8E90F-C7F6-4563-86D1-ADE257DC0BDD}" type="pres">
      <dgm:prSet presAssocID="{ABE1038A-7C08-49D3-9D98-5864C2E57E64}" presName="compNode" presStyleCnt="0"/>
      <dgm:spPr/>
    </dgm:pt>
    <dgm:pt modelId="{9AECBA02-9268-43E6-BC4A-35495D41FE3C}" type="pres">
      <dgm:prSet presAssocID="{ABE1038A-7C08-49D3-9D98-5864C2E57E64}" presName="bgRect" presStyleLbl="bgShp" presStyleIdx="0" presStyleCnt="3"/>
      <dgm:spPr/>
    </dgm:pt>
    <dgm:pt modelId="{39C4DBE8-21FA-415C-ABCA-6ABFF8C9BF1C}" type="pres">
      <dgm:prSet presAssocID="{ABE1038A-7C08-49D3-9D98-5864C2E57E6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B58CB608-1EE0-487A-B616-25AE766FCF23}" type="pres">
      <dgm:prSet presAssocID="{ABE1038A-7C08-49D3-9D98-5864C2E57E64}" presName="spaceRect" presStyleCnt="0"/>
      <dgm:spPr/>
    </dgm:pt>
    <dgm:pt modelId="{309404F8-FFB4-4850-A812-D19C29C57EDF}" type="pres">
      <dgm:prSet presAssocID="{ABE1038A-7C08-49D3-9D98-5864C2E57E64}" presName="parTx" presStyleLbl="revTx" presStyleIdx="0" presStyleCnt="3">
        <dgm:presLayoutVars>
          <dgm:chMax val="0"/>
          <dgm:chPref val="0"/>
        </dgm:presLayoutVars>
      </dgm:prSet>
      <dgm:spPr/>
    </dgm:pt>
    <dgm:pt modelId="{BC2021BA-AD8B-4D44-A2E1-9004509E5EAC}" type="pres">
      <dgm:prSet presAssocID="{3C97FEAA-E234-44F3-B6D5-D9E13DA15607}" presName="sibTrans" presStyleCnt="0"/>
      <dgm:spPr/>
    </dgm:pt>
    <dgm:pt modelId="{9F8E3962-B44B-42D3-AEDF-4ED045B7719D}" type="pres">
      <dgm:prSet presAssocID="{22C97B64-1C0D-4D72-86F4-A282AFC07C4D}" presName="compNode" presStyleCnt="0"/>
      <dgm:spPr/>
    </dgm:pt>
    <dgm:pt modelId="{307A5838-91DA-4FD4-8988-28FC07DDB84D}" type="pres">
      <dgm:prSet presAssocID="{22C97B64-1C0D-4D72-86F4-A282AFC07C4D}" presName="bgRect" presStyleLbl="bgShp" presStyleIdx="1" presStyleCnt="3"/>
      <dgm:spPr/>
    </dgm:pt>
    <dgm:pt modelId="{AAF7A943-FDE7-4946-B216-D6D21397851D}" type="pres">
      <dgm:prSet presAssocID="{22C97B64-1C0D-4D72-86F4-A282AFC07C4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3D40E01E-75BB-4253-BDB8-D1A54749FD59}" type="pres">
      <dgm:prSet presAssocID="{22C97B64-1C0D-4D72-86F4-A282AFC07C4D}" presName="spaceRect" presStyleCnt="0"/>
      <dgm:spPr/>
    </dgm:pt>
    <dgm:pt modelId="{AA535856-F31D-4AB5-BC39-CD635C99C0EE}" type="pres">
      <dgm:prSet presAssocID="{22C97B64-1C0D-4D72-86F4-A282AFC07C4D}" presName="parTx" presStyleLbl="revTx" presStyleIdx="1" presStyleCnt="3">
        <dgm:presLayoutVars>
          <dgm:chMax val="0"/>
          <dgm:chPref val="0"/>
        </dgm:presLayoutVars>
      </dgm:prSet>
      <dgm:spPr/>
    </dgm:pt>
    <dgm:pt modelId="{008B756D-9C95-4501-BB9D-F2DB7B97B964}" type="pres">
      <dgm:prSet presAssocID="{33A0375E-9F1A-489C-80B9-611FF994852B}" presName="sibTrans" presStyleCnt="0"/>
      <dgm:spPr/>
    </dgm:pt>
    <dgm:pt modelId="{559EF38F-1B92-49E1-A67F-4C1DE555142D}" type="pres">
      <dgm:prSet presAssocID="{2ADA18DD-2DD2-4C22-B1FA-8C168A764AF9}" presName="compNode" presStyleCnt="0"/>
      <dgm:spPr/>
    </dgm:pt>
    <dgm:pt modelId="{F1FD9496-DADB-469D-B70C-02337453447B}" type="pres">
      <dgm:prSet presAssocID="{2ADA18DD-2DD2-4C22-B1FA-8C168A764AF9}" presName="bgRect" presStyleLbl="bgShp" presStyleIdx="2" presStyleCnt="3"/>
      <dgm:spPr/>
    </dgm:pt>
    <dgm:pt modelId="{5816741E-E1D1-4DB5-8470-4159757A753A}" type="pres">
      <dgm:prSet presAssocID="{2ADA18DD-2DD2-4C22-B1FA-8C168A764A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653ABC87-8F22-45D8-AF92-157837C87934}" type="pres">
      <dgm:prSet presAssocID="{2ADA18DD-2DD2-4C22-B1FA-8C168A764AF9}" presName="spaceRect" presStyleCnt="0"/>
      <dgm:spPr/>
    </dgm:pt>
    <dgm:pt modelId="{67B2F92D-A79D-483A-8DDA-4586AB822A00}" type="pres">
      <dgm:prSet presAssocID="{2ADA18DD-2DD2-4C22-B1FA-8C168A764AF9}" presName="parTx" presStyleLbl="revTx" presStyleIdx="2" presStyleCnt="3">
        <dgm:presLayoutVars>
          <dgm:chMax val="0"/>
          <dgm:chPref val="0"/>
        </dgm:presLayoutVars>
      </dgm:prSet>
      <dgm:spPr/>
    </dgm:pt>
  </dgm:ptLst>
  <dgm:cxnLst>
    <dgm:cxn modelId="{8837D03E-B611-4378-8E92-828551D7FC82}" type="presOf" srcId="{BE3ECDD6-0A3D-48A0-85EF-E6BD6A72E862}" destId="{04B9B4C4-BDE0-414F-A780-64808117C8C4}" srcOrd="0" destOrd="0" presId="urn:microsoft.com/office/officeart/2018/2/layout/IconVerticalSolidList"/>
    <dgm:cxn modelId="{40D5464F-2FE6-4469-85E4-C9DA2393D14A}" srcId="{BE3ECDD6-0A3D-48A0-85EF-E6BD6A72E862}" destId="{ABE1038A-7C08-49D3-9D98-5864C2E57E64}" srcOrd="0" destOrd="0" parTransId="{16EACD7E-BA9F-4684-9753-12FC1F0ABAC4}" sibTransId="{3C97FEAA-E234-44F3-B6D5-D9E13DA15607}"/>
    <dgm:cxn modelId="{118FC570-85FF-4EC7-9F08-78DFDE839A16}" type="presOf" srcId="{ABE1038A-7C08-49D3-9D98-5864C2E57E64}" destId="{309404F8-FFB4-4850-A812-D19C29C57EDF}" srcOrd="0" destOrd="0" presId="urn:microsoft.com/office/officeart/2018/2/layout/IconVerticalSolidList"/>
    <dgm:cxn modelId="{AE132BC9-BDA5-428E-9E89-6426F9B362F8}" type="presOf" srcId="{2ADA18DD-2DD2-4C22-B1FA-8C168A764AF9}" destId="{67B2F92D-A79D-483A-8DDA-4586AB822A00}" srcOrd="0" destOrd="0" presId="urn:microsoft.com/office/officeart/2018/2/layout/IconVerticalSolidList"/>
    <dgm:cxn modelId="{5CC801D2-7CE8-4784-86C9-73253CF0AA49}" srcId="{BE3ECDD6-0A3D-48A0-85EF-E6BD6A72E862}" destId="{2ADA18DD-2DD2-4C22-B1FA-8C168A764AF9}" srcOrd="2" destOrd="0" parTransId="{FAA22654-F8FA-4BBA-B19A-DE32BC8A2E8F}" sibTransId="{21981898-9A2F-4C3B-A7D4-88EB7EC4A128}"/>
    <dgm:cxn modelId="{2D9407DA-F4B7-4D4F-A6E9-FF4A0E4EAB3D}" srcId="{BE3ECDD6-0A3D-48A0-85EF-E6BD6A72E862}" destId="{22C97B64-1C0D-4D72-86F4-A282AFC07C4D}" srcOrd="1" destOrd="0" parTransId="{F5CBCBCB-D689-457E-AC1C-73AAFDECC791}" sibTransId="{33A0375E-9F1A-489C-80B9-611FF994852B}"/>
    <dgm:cxn modelId="{97AD54E2-63D3-460D-B8BE-0E030F8A551E}" type="presOf" srcId="{22C97B64-1C0D-4D72-86F4-A282AFC07C4D}" destId="{AA535856-F31D-4AB5-BC39-CD635C99C0EE}" srcOrd="0" destOrd="0" presId="urn:microsoft.com/office/officeart/2018/2/layout/IconVerticalSolidList"/>
    <dgm:cxn modelId="{791FEA67-4211-4696-9137-F2D3E1F5C5D1}" type="presParOf" srcId="{04B9B4C4-BDE0-414F-A780-64808117C8C4}" destId="{E2D8E90F-C7F6-4563-86D1-ADE257DC0BDD}" srcOrd="0" destOrd="0" presId="urn:microsoft.com/office/officeart/2018/2/layout/IconVerticalSolidList"/>
    <dgm:cxn modelId="{E2EEB2A8-BB46-4006-8C45-DB709619490D}" type="presParOf" srcId="{E2D8E90F-C7F6-4563-86D1-ADE257DC0BDD}" destId="{9AECBA02-9268-43E6-BC4A-35495D41FE3C}" srcOrd="0" destOrd="0" presId="urn:microsoft.com/office/officeart/2018/2/layout/IconVerticalSolidList"/>
    <dgm:cxn modelId="{D54D0B9B-99D9-4ABB-9763-09F56943FDEE}" type="presParOf" srcId="{E2D8E90F-C7F6-4563-86D1-ADE257DC0BDD}" destId="{39C4DBE8-21FA-415C-ABCA-6ABFF8C9BF1C}" srcOrd="1" destOrd="0" presId="urn:microsoft.com/office/officeart/2018/2/layout/IconVerticalSolidList"/>
    <dgm:cxn modelId="{6A7F9C3F-ACAF-4758-80D1-483315924768}" type="presParOf" srcId="{E2D8E90F-C7F6-4563-86D1-ADE257DC0BDD}" destId="{B58CB608-1EE0-487A-B616-25AE766FCF23}" srcOrd="2" destOrd="0" presId="urn:microsoft.com/office/officeart/2018/2/layout/IconVerticalSolidList"/>
    <dgm:cxn modelId="{64617DC1-8DCB-4A35-9102-85FE6F2A3DAB}" type="presParOf" srcId="{E2D8E90F-C7F6-4563-86D1-ADE257DC0BDD}" destId="{309404F8-FFB4-4850-A812-D19C29C57EDF}" srcOrd="3" destOrd="0" presId="urn:microsoft.com/office/officeart/2018/2/layout/IconVerticalSolidList"/>
    <dgm:cxn modelId="{F944D5DA-D97F-44CB-A5E9-BE66B8686A50}" type="presParOf" srcId="{04B9B4C4-BDE0-414F-A780-64808117C8C4}" destId="{BC2021BA-AD8B-4D44-A2E1-9004509E5EAC}" srcOrd="1" destOrd="0" presId="urn:microsoft.com/office/officeart/2018/2/layout/IconVerticalSolidList"/>
    <dgm:cxn modelId="{FA288AE3-394A-4126-8F38-E82B5739EAAA}" type="presParOf" srcId="{04B9B4C4-BDE0-414F-A780-64808117C8C4}" destId="{9F8E3962-B44B-42D3-AEDF-4ED045B7719D}" srcOrd="2" destOrd="0" presId="urn:microsoft.com/office/officeart/2018/2/layout/IconVerticalSolidList"/>
    <dgm:cxn modelId="{185CEFE9-1E8B-443B-B2DA-9B6CCA425EEF}" type="presParOf" srcId="{9F8E3962-B44B-42D3-AEDF-4ED045B7719D}" destId="{307A5838-91DA-4FD4-8988-28FC07DDB84D}" srcOrd="0" destOrd="0" presId="urn:microsoft.com/office/officeart/2018/2/layout/IconVerticalSolidList"/>
    <dgm:cxn modelId="{1F438D42-ACE3-415F-9435-F76DFEAE82E3}" type="presParOf" srcId="{9F8E3962-B44B-42D3-AEDF-4ED045B7719D}" destId="{AAF7A943-FDE7-4946-B216-D6D21397851D}" srcOrd="1" destOrd="0" presId="urn:microsoft.com/office/officeart/2018/2/layout/IconVerticalSolidList"/>
    <dgm:cxn modelId="{32F9A3A1-06D9-4251-AD48-B5571D93CA4E}" type="presParOf" srcId="{9F8E3962-B44B-42D3-AEDF-4ED045B7719D}" destId="{3D40E01E-75BB-4253-BDB8-D1A54749FD59}" srcOrd="2" destOrd="0" presId="urn:microsoft.com/office/officeart/2018/2/layout/IconVerticalSolidList"/>
    <dgm:cxn modelId="{CA81AA3F-7993-4A21-8344-F332A01BCB52}" type="presParOf" srcId="{9F8E3962-B44B-42D3-AEDF-4ED045B7719D}" destId="{AA535856-F31D-4AB5-BC39-CD635C99C0EE}" srcOrd="3" destOrd="0" presId="urn:microsoft.com/office/officeart/2018/2/layout/IconVerticalSolidList"/>
    <dgm:cxn modelId="{6953780D-F1EA-4FE4-8A73-116FA0C348E6}" type="presParOf" srcId="{04B9B4C4-BDE0-414F-A780-64808117C8C4}" destId="{008B756D-9C95-4501-BB9D-F2DB7B97B964}" srcOrd="3" destOrd="0" presId="urn:microsoft.com/office/officeart/2018/2/layout/IconVerticalSolidList"/>
    <dgm:cxn modelId="{19D17685-DD5F-4491-85F0-C66C0A3FCD28}" type="presParOf" srcId="{04B9B4C4-BDE0-414F-A780-64808117C8C4}" destId="{559EF38F-1B92-49E1-A67F-4C1DE555142D}" srcOrd="4" destOrd="0" presId="urn:microsoft.com/office/officeart/2018/2/layout/IconVerticalSolidList"/>
    <dgm:cxn modelId="{4810D3B2-4B97-4EA3-8880-ACC91D9CFB53}" type="presParOf" srcId="{559EF38F-1B92-49E1-A67F-4C1DE555142D}" destId="{F1FD9496-DADB-469D-B70C-02337453447B}" srcOrd="0" destOrd="0" presId="urn:microsoft.com/office/officeart/2018/2/layout/IconVerticalSolidList"/>
    <dgm:cxn modelId="{CE6237C4-9E09-468C-8AF7-C52732E893CA}" type="presParOf" srcId="{559EF38F-1B92-49E1-A67F-4C1DE555142D}" destId="{5816741E-E1D1-4DB5-8470-4159757A753A}" srcOrd="1" destOrd="0" presId="urn:microsoft.com/office/officeart/2018/2/layout/IconVerticalSolidList"/>
    <dgm:cxn modelId="{772D2A54-D1F4-4CE1-853E-6565E9DD011C}" type="presParOf" srcId="{559EF38F-1B92-49E1-A67F-4C1DE555142D}" destId="{653ABC87-8F22-45D8-AF92-157837C87934}" srcOrd="2" destOrd="0" presId="urn:microsoft.com/office/officeart/2018/2/layout/IconVerticalSolidList"/>
    <dgm:cxn modelId="{FB06050F-1643-4FF4-AA2F-022A60D6171E}" type="presParOf" srcId="{559EF38F-1B92-49E1-A67F-4C1DE555142D}" destId="{67B2F92D-A79D-483A-8DDA-4586AB822A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CBA02-9268-43E6-BC4A-35495D41FE3C}">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C4DBE8-21FA-415C-ABCA-6ABFF8C9BF1C}">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9404F8-FFB4-4850-A812-D19C29C57EDF}">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22300">
            <a:lnSpc>
              <a:spcPct val="90000"/>
            </a:lnSpc>
            <a:spcBef>
              <a:spcPct val="0"/>
            </a:spcBef>
            <a:spcAft>
              <a:spcPct val="35000"/>
            </a:spcAft>
            <a:buNone/>
          </a:pPr>
          <a:r>
            <a:rPr lang="en-US" sz="1400" b="1" i="0" kern="1200"/>
            <a:t>Point Clouds</a:t>
          </a:r>
          <a:r>
            <a:rPr lang="en-US" sz="1400" b="0" i="0" kern="1200"/>
            <a:t>: Point clouds are a fundamental data type in 3D computer vision and represent surfaces as a collection of points in 3D space. Each point in a point cloud is defined by its x, y, and z coordinates, which specify its position in the 3D world. Additionally, points in a point cloud may include other attributes such as color, intensity, or surface normals, which provide further information about the object’s appearance and structure.</a:t>
          </a:r>
          <a:endParaRPr lang="en-US" sz="1400" kern="1200"/>
        </a:p>
      </dsp:txBody>
      <dsp:txXfrm>
        <a:off x="1437631" y="531"/>
        <a:ext cx="9077968" cy="1244702"/>
      </dsp:txXfrm>
    </dsp:sp>
    <dsp:sp modelId="{307A5838-91DA-4FD4-8988-28FC07DDB84D}">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F7A943-FDE7-4946-B216-D6D21397851D}">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535856-F31D-4AB5-BC39-CD635C99C0EE}">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22300">
            <a:lnSpc>
              <a:spcPct val="90000"/>
            </a:lnSpc>
            <a:spcBef>
              <a:spcPct val="0"/>
            </a:spcBef>
            <a:spcAft>
              <a:spcPct val="35000"/>
            </a:spcAft>
            <a:buNone/>
          </a:pPr>
          <a:r>
            <a:rPr lang="en-US" sz="1400" b="1" i="0" kern="1200"/>
            <a:t>Meshes</a:t>
          </a:r>
          <a:r>
            <a:rPr lang="en-US" sz="1400" b="0" i="0" kern="1200"/>
            <a:t>: A mesh is another common representation of 3D objects, defined by a set of vertices, edges, and faces. Vertices are points in 3D space, edges connect vertices, and faces are flat surfaces formed by connecting edges. Meshes are used to define the shape of an object’s surface with more detail than point clouds, as they can accurately represent the geometry of complex surfaces.</a:t>
          </a:r>
          <a:endParaRPr lang="en-US" sz="1400" kern="1200"/>
        </a:p>
      </dsp:txBody>
      <dsp:txXfrm>
        <a:off x="1437631" y="1556410"/>
        <a:ext cx="9077968" cy="1244702"/>
      </dsp:txXfrm>
    </dsp:sp>
    <dsp:sp modelId="{F1FD9496-DADB-469D-B70C-02337453447B}">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16741E-E1D1-4DB5-8470-4159757A753A}">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B2F92D-A79D-483A-8DDA-4586AB822A00}">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22300">
            <a:lnSpc>
              <a:spcPct val="90000"/>
            </a:lnSpc>
            <a:spcBef>
              <a:spcPct val="0"/>
            </a:spcBef>
            <a:spcAft>
              <a:spcPct val="35000"/>
            </a:spcAft>
            <a:buNone/>
          </a:pPr>
          <a:r>
            <a:rPr lang="en-US" sz="1400" b="1" i="0" kern="1200"/>
            <a:t>Volumetric Data</a:t>
          </a:r>
          <a:r>
            <a:rPr lang="en-US" sz="1400" b="0" i="0" kern="1200"/>
            <a:t>: Volumetric data represents objects as a 3D grid, where each cell in the grid (voxel) contains information about the object’s properties at that point in space. This type of data is useful for representing objects that have volume, such as medical images of organs or industrial scans of machinery. Volumetric data can capture both the exterior surface and interior properties of objects, making it valuable for a wide range of applications.</a:t>
          </a:r>
          <a:endParaRPr lang="en-US" sz="1400" kern="1200"/>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421F2-2E36-4E80-92AC-8BA22326488D}" type="datetimeFigureOut">
              <a:rPr lang="en-MY" smtClean="0"/>
              <a:t>4/6/2025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CA23E-ED3C-4272-86AE-C2B4723AE21F}" type="slidenum">
              <a:rPr lang="en-MY" smtClean="0"/>
              <a:t>‹#›</a:t>
            </a:fld>
            <a:endParaRPr lang="en-MY"/>
          </a:p>
        </p:txBody>
      </p:sp>
    </p:spTree>
    <p:extLst>
      <p:ext uri="{BB962C8B-B14F-4D97-AF65-F5344CB8AC3E}">
        <p14:creationId xmlns:p14="http://schemas.microsoft.com/office/powerpoint/2010/main" val="24417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E18CA23E-ED3C-4272-86AE-C2B4723AE21F}" type="slidenum">
              <a:rPr lang="en-MY" smtClean="0"/>
              <a:t>5</a:t>
            </a:fld>
            <a:endParaRPr lang="en-MY"/>
          </a:p>
        </p:txBody>
      </p:sp>
    </p:spTree>
    <p:extLst>
      <p:ext uri="{BB962C8B-B14F-4D97-AF65-F5344CB8AC3E}">
        <p14:creationId xmlns:p14="http://schemas.microsoft.com/office/powerpoint/2010/main" val="127246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DDC7B-A86D-5299-1BBE-1246AF19D9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2EB13E96-153A-1502-9774-737AB20A38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5C6018B7-0CB9-5102-25BB-6C4F104E8CF8}"/>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8543937D-D5DC-4C62-5296-6E88EA3F732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1D7F5C6-CE54-117F-822B-8A89FD97BE30}"/>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3368195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E5B4B-3A0E-1451-BA03-4ADB9D7350F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88035A75-5481-4004-B48B-70273FF4BF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1A0E851-0C93-435A-82DA-12C4AFF27382}"/>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690F2335-5667-B9DF-6424-76DBC82A21D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9146AD9-4798-908A-E55C-2ABA9387A758}"/>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4218291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0A0E7-D620-2339-EC1B-DE3205985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6C2E7BD5-AD4A-1FDE-F926-DC564AE2DB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C325A2-F728-A719-8452-8E67BCFD7DB1}"/>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8649162C-A5FC-C9AD-A7B7-B71FED09FEF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AFC4FA8-9A84-E160-EF07-BF69E4A02B22}"/>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296680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DAC9-7846-B81A-C8A3-7F4047F657CB}"/>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E4C86D7-DEB9-D2F9-468D-AACD219CD2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F5E92450-DB91-F4CB-C494-449BA5EEC0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23EE29D0-3750-8F0E-0C09-D095022C2793}"/>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6" name="Footer Placeholder 5">
            <a:extLst>
              <a:ext uri="{FF2B5EF4-FFF2-40B4-BE49-F238E27FC236}">
                <a16:creationId xmlns:a16="http://schemas.microsoft.com/office/drawing/2014/main" id="{178B42EB-B34D-3580-296C-6A64EA3A6CFE}"/>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FA9DF748-A729-ABBC-03C9-3D3287711569}"/>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3302457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9A5D-BA7D-C271-DDB3-27F8535F55CB}"/>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72F1FC8-4AAA-9253-E503-2655090CB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11B7DE-6E04-E9E0-F2A7-9966A84304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5238FD9A-DBDF-EDD3-0759-EE056141C5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076749-11CF-3709-78C9-23F83BD936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A3B4CE14-EB01-AA69-7306-7DA4AA0A2DE4}"/>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8" name="Footer Placeholder 7">
            <a:extLst>
              <a:ext uri="{FF2B5EF4-FFF2-40B4-BE49-F238E27FC236}">
                <a16:creationId xmlns:a16="http://schemas.microsoft.com/office/drawing/2014/main" id="{CAD052E8-835A-E2C6-488A-78C003C4E1E2}"/>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DF3F237A-7A59-B056-614F-5F12CFFFC1FF}"/>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106194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B3000-989B-5DB7-E39D-B11CEE113690}"/>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69772A0C-F7A5-703A-8A5F-46B116A82E64}"/>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4" name="Footer Placeholder 3">
            <a:extLst>
              <a:ext uri="{FF2B5EF4-FFF2-40B4-BE49-F238E27FC236}">
                <a16:creationId xmlns:a16="http://schemas.microsoft.com/office/drawing/2014/main" id="{542AFDB4-6FED-167B-5CCF-A5196C8C0815}"/>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01DEE826-7F48-7586-0B33-992DFE074853}"/>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3603957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CDF4FC-A2A3-2471-0E30-23DFA6B6745D}"/>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3" name="Footer Placeholder 2">
            <a:extLst>
              <a:ext uri="{FF2B5EF4-FFF2-40B4-BE49-F238E27FC236}">
                <a16:creationId xmlns:a16="http://schemas.microsoft.com/office/drawing/2014/main" id="{B8D4F22E-D7A5-3FDE-0FB4-BA4356051AC6}"/>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16600701-4E8E-CC78-0B28-754E03D7BF01}"/>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4246757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42CAB-B1DC-C552-16BF-BAA17D5FCB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19B1F304-D0E7-ECE9-D730-2231EF0D93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68941F6F-CFD3-8642-52E6-6EF62F8BF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D9C4D-4212-16FC-2ABF-6FC5F798D7A5}"/>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6" name="Footer Placeholder 5">
            <a:extLst>
              <a:ext uri="{FF2B5EF4-FFF2-40B4-BE49-F238E27FC236}">
                <a16:creationId xmlns:a16="http://schemas.microsoft.com/office/drawing/2014/main" id="{23A6F97D-0D0C-5E53-F3B0-92F875B3B074}"/>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0B8E655B-9795-B59F-0AE1-9B89D3BD2BDB}"/>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1763176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DBE2-1219-92A6-339F-1CCD236C40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3306F180-C918-5D87-9F4F-6A6DC5734E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24A1CC48-BD84-610D-7DC2-93967939F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32494-2845-E352-3EBC-A575D2A2ABA6}"/>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6" name="Footer Placeholder 5">
            <a:extLst>
              <a:ext uri="{FF2B5EF4-FFF2-40B4-BE49-F238E27FC236}">
                <a16:creationId xmlns:a16="http://schemas.microsoft.com/office/drawing/2014/main" id="{07633438-553E-A8B0-AA14-32E00EFFC775}"/>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0D4D643D-999A-0A11-CBC0-7C769D2660AC}"/>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2688780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BEE6-6710-8C7A-161B-896C09226004}"/>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612810F7-1105-7EFA-6CFF-98ABF36A8C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FFA38C2-BBC3-8DC4-4E1C-A2FF402336E6}"/>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355734AC-4285-773E-1A2D-B9142DC37E2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B6F0ECF-CA00-BBEC-407C-44B586620749}"/>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3108684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37933C-FE18-9E4B-A2CA-85BDDE4709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85139AFA-8C16-2932-6571-84E91C9A51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D280D7D-8DFD-1D83-5C8F-F76674F66F52}"/>
              </a:ext>
            </a:extLst>
          </p:cNvPr>
          <p:cNvSpPr>
            <a:spLocks noGrp="1"/>
          </p:cNvSpPr>
          <p:nvPr>
            <p:ph type="dt" sz="half" idx="10"/>
          </p:nvPr>
        </p:nvSpPr>
        <p:spPr/>
        <p:txBody>
          <a:body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6F7AFBA8-18FF-7671-DFA0-848992131DD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49CABCB-B502-4CB3-1C41-42A9AF98EDD8}"/>
              </a:ext>
            </a:extLst>
          </p:cNvPr>
          <p:cNvSpPr>
            <a:spLocks noGrp="1"/>
          </p:cNvSpPr>
          <p:nvPr>
            <p:ph type="sldNum" sz="quarter" idx="12"/>
          </p:nvPr>
        </p:nvSpPr>
        <p:spPr/>
        <p:txBody>
          <a:bodyPr/>
          <a:lstStyle/>
          <a:p>
            <a:fld id="{91B6EFC5-0D57-4C53-B56E-5976B33EC8BE}" type="slidenum">
              <a:rPr lang="en-MY" smtClean="0"/>
              <a:t>‹#›</a:t>
            </a:fld>
            <a:endParaRPr lang="en-MY"/>
          </a:p>
        </p:txBody>
      </p:sp>
    </p:spTree>
    <p:extLst>
      <p:ext uri="{BB962C8B-B14F-4D97-AF65-F5344CB8AC3E}">
        <p14:creationId xmlns:p14="http://schemas.microsoft.com/office/powerpoint/2010/main" val="2459412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356C0F-5B4C-FB4C-52CD-4E5D015D85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DB302C1-DAED-E612-3B70-031FA18D71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56B9032-72B7-F78E-C69C-6F82E91CDF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8093B7-F21D-4DC4-8B23-B81E24D654B8}" type="datetimeFigureOut">
              <a:rPr lang="en-MY" smtClean="0"/>
              <a:t>4/6/2025</a:t>
            </a:fld>
            <a:endParaRPr lang="en-MY"/>
          </a:p>
        </p:txBody>
      </p:sp>
      <p:sp>
        <p:nvSpPr>
          <p:cNvPr id="5" name="Footer Placeholder 4">
            <a:extLst>
              <a:ext uri="{FF2B5EF4-FFF2-40B4-BE49-F238E27FC236}">
                <a16:creationId xmlns:a16="http://schemas.microsoft.com/office/drawing/2014/main" id="{E720B96E-C155-BDED-0B9E-5BE5FE7295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F116D5A3-03B1-49F4-EF5E-1109C73F67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6EFC5-0D57-4C53-B56E-5976B33EC8BE}" type="slidenum">
              <a:rPr lang="en-MY" smtClean="0"/>
              <a:t>‹#›</a:t>
            </a:fld>
            <a:endParaRPr lang="en-MY"/>
          </a:p>
        </p:txBody>
      </p:sp>
    </p:spTree>
    <p:extLst>
      <p:ext uri="{BB962C8B-B14F-4D97-AF65-F5344CB8AC3E}">
        <p14:creationId xmlns:p14="http://schemas.microsoft.com/office/powerpoint/2010/main" val="880088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0.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9C6777B5-64F4-4200-B099-34168B69F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7 State-Of-The-Art Point Cloud Models for Autonomous Driving | Segments.ai">
            <a:extLst>
              <a:ext uri="{FF2B5EF4-FFF2-40B4-BE49-F238E27FC236}">
                <a16:creationId xmlns:a16="http://schemas.microsoft.com/office/drawing/2014/main" id="{E5F7C3EE-BCBD-0547-3B99-C1D7C361FC40}"/>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b="4306"/>
          <a:stretch/>
        </p:blipFill>
        <p:spPr bwMode="auto">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noFill/>
          <a:effectLst>
            <a:outerShdw blurRad="381000" dist="152400" dir="5400000" algn="t" rotWithShape="0">
              <a:prstClr val="black">
                <a:alpha val="20000"/>
              </a:prstClr>
            </a:outerShdw>
          </a:effectLst>
          <a:extLst>
            <a:ext uri="{909E8E84-426E-40DD-AFC4-6F175D3DCCD1}">
              <a14:hiddenFill xmlns:a14="http://schemas.microsoft.com/office/drawing/2010/main">
                <a:solidFill>
                  <a:srgbClr val="FFFFFF"/>
                </a:solidFill>
              </a14:hiddenFill>
            </a:ext>
          </a:extLst>
        </p:spPr>
      </p:pic>
      <p:sp>
        <p:nvSpPr>
          <p:cNvPr id="1033" name="Rectangle 41">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8350" cy="6038850"/>
          </a:xfrm>
          <a:custGeom>
            <a:avLst/>
            <a:gdLst>
              <a:gd name="connsiteX0" fmla="*/ 0 w 12192000"/>
              <a:gd name="connsiteY0" fmla="*/ 0 h 5835650"/>
              <a:gd name="connsiteX1" fmla="*/ 12192000 w 12192000"/>
              <a:gd name="connsiteY1" fmla="*/ 0 h 5835650"/>
              <a:gd name="connsiteX2" fmla="*/ 12192000 w 12192000"/>
              <a:gd name="connsiteY2" fmla="*/ 5835650 h 5835650"/>
              <a:gd name="connsiteX3" fmla="*/ 0 w 12192000"/>
              <a:gd name="connsiteY3" fmla="*/ 5835650 h 5835650"/>
              <a:gd name="connsiteX4" fmla="*/ 0 w 12192000"/>
              <a:gd name="connsiteY4"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0 w 12198350"/>
              <a:gd name="connsiteY4" fmla="*/ 5835650 h 5835650"/>
              <a:gd name="connsiteX5" fmla="*/ 0 w 12198350"/>
              <a:gd name="connsiteY5"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0 w 12198350"/>
              <a:gd name="connsiteY5" fmla="*/ 5835650 h 5835650"/>
              <a:gd name="connsiteX6" fmla="*/ 0 w 12198350"/>
              <a:gd name="connsiteY6"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1822450 w 12198350"/>
              <a:gd name="connsiteY5" fmla="*/ 5829300 h 5835650"/>
              <a:gd name="connsiteX6" fmla="*/ 0 w 12198350"/>
              <a:gd name="connsiteY6" fmla="*/ 5835650 h 5835650"/>
              <a:gd name="connsiteX7" fmla="*/ 0 w 12198350"/>
              <a:gd name="connsiteY7"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1727200 w 12198350"/>
              <a:gd name="connsiteY5" fmla="*/ 5486400 h 5835650"/>
              <a:gd name="connsiteX6" fmla="*/ 0 w 12198350"/>
              <a:gd name="connsiteY6" fmla="*/ 5835650 h 5835650"/>
              <a:gd name="connsiteX7" fmla="*/ 0 w 12198350"/>
              <a:gd name="connsiteY7"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3854450 w 12198350"/>
              <a:gd name="connsiteY5" fmla="*/ 5695950 h 5835650"/>
              <a:gd name="connsiteX6" fmla="*/ 1727200 w 12198350"/>
              <a:gd name="connsiteY6" fmla="*/ 5486400 h 5835650"/>
              <a:gd name="connsiteX7" fmla="*/ 0 w 12198350"/>
              <a:gd name="connsiteY7" fmla="*/ 5835650 h 5835650"/>
              <a:gd name="connsiteX8" fmla="*/ 0 w 12198350"/>
              <a:gd name="connsiteY8" fmla="*/ 0 h 5835650"/>
              <a:gd name="connsiteX0" fmla="*/ 0 w 12198350"/>
              <a:gd name="connsiteY0" fmla="*/ 0 h 5842000"/>
              <a:gd name="connsiteX1" fmla="*/ 12192000 w 12198350"/>
              <a:gd name="connsiteY1" fmla="*/ 0 h 5842000"/>
              <a:gd name="connsiteX2" fmla="*/ 12198350 w 12198350"/>
              <a:gd name="connsiteY2" fmla="*/ 3505200 h 5842000"/>
              <a:gd name="connsiteX3" fmla="*/ 12192000 w 12198350"/>
              <a:gd name="connsiteY3" fmla="*/ 5835650 h 5842000"/>
              <a:gd name="connsiteX4" fmla="*/ 5060950 w 12198350"/>
              <a:gd name="connsiteY4" fmla="*/ 5835650 h 5842000"/>
              <a:gd name="connsiteX5" fmla="*/ 3663950 w 12198350"/>
              <a:gd name="connsiteY5" fmla="*/ 5842000 h 5842000"/>
              <a:gd name="connsiteX6" fmla="*/ 1727200 w 12198350"/>
              <a:gd name="connsiteY6" fmla="*/ 5486400 h 5842000"/>
              <a:gd name="connsiteX7" fmla="*/ 0 w 12198350"/>
              <a:gd name="connsiteY7" fmla="*/ 5835650 h 5842000"/>
              <a:gd name="connsiteX8" fmla="*/ 0 w 12198350"/>
              <a:gd name="connsiteY8" fmla="*/ 0 h 5842000"/>
              <a:gd name="connsiteX0" fmla="*/ 0 w 12198350"/>
              <a:gd name="connsiteY0" fmla="*/ 0 h 5924550"/>
              <a:gd name="connsiteX1" fmla="*/ 12192000 w 12198350"/>
              <a:gd name="connsiteY1" fmla="*/ 0 h 5924550"/>
              <a:gd name="connsiteX2" fmla="*/ 12198350 w 12198350"/>
              <a:gd name="connsiteY2" fmla="*/ 3505200 h 5924550"/>
              <a:gd name="connsiteX3" fmla="*/ 12192000 w 12198350"/>
              <a:gd name="connsiteY3" fmla="*/ 5835650 h 5924550"/>
              <a:gd name="connsiteX4" fmla="*/ 4883150 w 12198350"/>
              <a:gd name="connsiteY4" fmla="*/ 5924550 h 5924550"/>
              <a:gd name="connsiteX5" fmla="*/ 3663950 w 12198350"/>
              <a:gd name="connsiteY5" fmla="*/ 5842000 h 5924550"/>
              <a:gd name="connsiteX6" fmla="*/ 1727200 w 12198350"/>
              <a:gd name="connsiteY6" fmla="*/ 5486400 h 5924550"/>
              <a:gd name="connsiteX7" fmla="*/ 0 w 12198350"/>
              <a:gd name="connsiteY7" fmla="*/ 5835650 h 5924550"/>
              <a:gd name="connsiteX8" fmla="*/ 0 w 12198350"/>
              <a:gd name="connsiteY8" fmla="*/ 0 h 5924550"/>
              <a:gd name="connsiteX0" fmla="*/ 0 w 12198350"/>
              <a:gd name="connsiteY0" fmla="*/ 0 h 5924550"/>
              <a:gd name="connsiteX1" fmla="*/ 12192000 w 12198350"/>
              <a:gd name="connsiteY1" fmla="*/ 0 h 5924550"/>
              <a:gd name="connsiteX2" fmla="*/ 12198350 w 12198350"/>
              <a:gd name="connsiteY2" fmla="*/ 3505200 h 5924550"/>
              <a:gd name="connsiteX3" fmla="*/ 12192000 w 12198350"/>
              <a:gd name="connsiteY3" fmla="*/ 5835650 h 5924550"/>
              <a:gd name="connsiteX4" fmla="*/ 8318500 w 12198350"/>
              <a:gd name="connsiteY4" fmla="*/ 5867400 h 5924550"/>
              <a:gd name="connsiteX5" fmla="*/ 4883150 w 12198350"/>
              <a:gd name="connsiteY5" fmla="*/ 5924550 h 5924550"/>
              <a:gd name="connsiteX6" fmla="*/ 3663950 w 12198350"/>
              <a:gd name="connsiteY6" fmla="*/ 5842000 h 5924550"/>
              <a:gd name="connsiteX7" fmla="*/ 1727200 w 12198350"/>
              <a:gd name="connsiteY7" fmla="*/ 5486400 h 5924550"/>
              <a:gd name="connsiteX8" fmla="*/ 0 w 12198350"/>
              <a:gd name="connsiteY8" fmla="*/ 5835650 h 5924550"/>
              <a:gd name="connsiteX9" fmla="*/ 0 w 12198350"/>
              <a:gd name="connsiteY9" fmla="*/ 0 h 59245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7219950 w 12198350"/>
              <a:gd name="connsiteY4" fmla="*/ 6038850 h 6038850"/>
              <a:gd name="connsiteX5" fmla="*/ 4883150 w 12198350"/>
              <a:gd name="connsiteY5" fmla="*/ 5924550 h 6038850"/>
              <a:gd name="connsiteX6" fmla="*/ 3663950 w 12198350"/>
              <a:gd name="connsiteY6" fmla="*/ 5842000 h 6038850"/>
              <a:gd name="connsiteX7" fmla="*/ 1727200 w 12198350"/>
              <a:gd name="connsiteY7" fmla="*/ 5486400 h 6038850"/>
              <a:gd name="connsiteX8" fmla="*/ 0 w 12198350"/>
              <a:gd name="connsiteY8" fmla="*/ 5835650 h 6038850"/>
              <a:gd name="connsiteX9" fmla="*/ 0 w 12198350"/>
              <a:gd name="connsiteY9"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9766300 w 12198350"/>
              <a:gd name="connsiteY4" fmla="*/ 59245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255250 w 12198350"/>
              <a:gd name="connsiteY3" fmla="*/ 49784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8813800 w 12198350"/>
              <a:gd name="connsiteY3" fmla="*/ 5746750 h 6038850"/>
              <a:gd name="connsiteX4" fmla="*/ 7219950 w 12198350"/>
              <a:gd name="connsiteY4" fmla="*/ 6038850 h 6038850"/>
              <a:gd name="connsiteX5" fmla="*/ 4883150 w 12198350"/>
              <a:gd name="connsiteY5" fmla="*/ 5924550 h 6038850"/>
              <a:gd name="connsiteX6" fmla="*/ 3663950 w 12198350"/>
              <a:gd name="connsiteY6" fmla="*/ 5842000 h 6038850"/>
              <a:gd name="connsiteX7" fmla="*/ 1727200 w 12198350"/>
              <a:gd name="connsiteY7" fmla="*/ 5486400 h 6038850"/>
              <a:gd name="connsiteX8" fmla="*/ 0 w 12198350"/>
              <a:gd name="connsiteY8" fmla="*/ 5835650 h 6038850"/>
              <a:gd name="connsiteX9" fmla="*/ 0 w 12198350"/>
              <a:gd name="connsiteY9"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623550 w 12198350"/>
              <a:gd name="connsiteY3" fmla="*/ 48006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185400 w 12198350"/>
              <a:gd name="connsiteY3" fmla="*/ 49784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766550 w 12198350"/>
              <a:gd name="connsiteY3" fmla="*/ 410845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8350" h="6038850">
                <a:moveTo>
                  <a:pt x="0" y="0"/>
                </a:moveTo>
                <a:lnTo>
                  <a:pt x="12192000" y="0"/>
                </a:lnTo>
                <a:cubicBezTo>
                  <a:pt x="12194117" y="1168400"/>
                  <a:pt x="12196233" y="2336800"/>
                  <a:pt x="12198350" y="3505200"/>
                </a:cubicBezTo>
                <a:cubicBezTo>
                  <a:pt x="11828992" y="3872442"/>
                  <a:pt x="11606741" y="4015317"/>
                  <a:pt x="11341100" y="4267200"/>
                </a:cubicBezTo>
                <a:cubicBezTo>
                  <a:pt x="11005609" y="4512733"/>
                  <a:pt x="10677525" y="4705350"/>
                  <a:pt x="10185400" y="4978400"/>
                </a:cubicBezTo>
                <a:cubicBezTo>
                  <a:pt x="9693275" y="5251450"/>
                  <a:pt x="9381067" y="5540375"/>
                  <a:pt x="8813800" y="5746750"/>
                </a:cubicBezTo>
                <a:lnTo>
                  <a:pt x="7219950" y="6038850"/>
                </a:lnTo>
                <a:lnTo>
                  <a:pt x="4883150" y="5924550"/>
                </a:lnTo>
                <a:lnTo>
                  <a:pt x="3663950" y="5842000"/>
                </a:lnTo>
                <a:lnTo>
                  <a:pt x="1727200" y="5486400"/>
                </a:lnTo>
                <a:lnTo>
                  <a:pt x="0" y="5835650"/>
                </a:lnTo>
                <a:lnTo>
                  <a:pt x="0" y="0"/>
                </a:lnTo>
                <a:close/>
              </a:path>
            </a:pathLst>
          </a:custGeom>
          <a:gradFill flip="none" rotWithShape="1">
            <a:gsLst>
              <a:gs pos="0">
                <a:srgbClr val="000000">
                  <a:alpha val="60000"/>
                </a:srgbClr>
              </a:gs>
              <a:gs pos="100000">
                <a:srgbClr val="000000">
                  <a:alpha val="0"/>
                </a:srgbClr>
              </a:gs>
              <a:gs pos="68000">
                <a:srgbClr val="000000">
                  <a:alpha val="40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1038" name="Group 1037">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039" name="Freeform: Shape 1038">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7" name="Freeform: Shape 1036">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F3C838C-2E44-7BAC-CC05-8F916D42C2D1}"/>
              </a:ext>
            </a:extLst>
          </p:cNvPr>
          <p:cNvSpPr>
            <a:spLocks noGrp="1"/>
          </p:cNvSpPr>
          <p:nvPr>
            <p:ph type="ctrTitle"/>
          </p:nvPr>
        </p:nvSpPr>
        <p:spPr>
          <a:xfrm>
            <a:off x="838199" y="1120676"/>
            <a:ext cx="7021513" cy="2308324"/>
          </a:xfrm>
        </p:spPr>
        <p:txBody>
          <a:bodyPr>
            <a:normAutofit/>
          </a:bodyPr>
          <a:lstStyle/>
          <a:p>
            <a:pPr algn="l"/>
            <a:r>
              <a:rPr lang="en-MY" sz="7200" b="1" dirty="0">
                <a:solidFill>
                  <a:srgbClr val="FFFFFF"/>
                </a:solidFill>
              </a:rPr>
              <a:t>3D Point Cloud Processing</a:t>
            </a:r>
          </a:p>
        </p:txBody>
      </p:sp>
      <p:sp>
        <p:nvSpPr>
          <p:cNvPr id="3" name="Subtitle 2">
            <a:extLst>
              <a:ext uri="{FF2B5EF4-FFF2-40B4-BE49-F238E27FC236}">
                <a16:creationId xmlns:a16="http://schemas.microsoft.com/office/drawing/2014/main" id="{94D5B6D8-C0E9-6B1B-5428-8CFD6BB19D00}"/>
              </a:ext>
            </a:extLst>
          </p:cNvPr>
          <p:cNvSpPr>
            <a:spLocks noGrp="1"/>
          </p:cNvSpPr>
          <p:nvPr>
            <p:ph type="subTitle" idx="1"/>
          </p:nvPr>
        </p:nvSpPr>
        <p:spPr>
          <a:xfrm>
            <a:off x="835024" y="3809999"/>
            <a:ext cx="7025753" cy="1012778"/>
          </a:xfrm>
        </p:spPr>
        <p:txBody>
          <a:bodyPr>
            <a:normAutofit/>
          </a:bodyPr>
          <a:lstStyle/>
          <a:p>
            <a:pPr algn="l"/>
            <a:endParaRPr lang="en-MY">
              <a:solidFill>
                <a:srgbClr val="FFFFFF"/>
              </a:solidFill>
            </a:endParaRPr>
          </a:p>
        </p:txBody>
      </p:sp>
    </p:spTree>
    <p:extLst>
      <p:ext uri="{BB962C8B-B14F-4D97-AF65-F5344CB8AC3E}">
        <p14:creationId xmlns:p14="http://schemas.microsoft.com/office/powerpoint/2010/main" val="2923520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D5040-9A06-0499-EA5D-A9C6ABEA0DF5}"/>
              </a:ext>
            </a:extLst>
          </p:cNvPr>
          <p:cNvSpPr>
            <a:spLocks noGrp="1"/>
          </p:cNvSpPr>
          <p:nvPr>
            <p:ph type="title"/>
          </p:nvPr>
        </p:nvSpPr>
        <p:spPr/>
        <p:txBody>
          <a:bodyPr/>
          <a:lstStyle/>
          <a:p>
            <a:r>
              <a:rPr lang="en-MY" dirty="0"/>
              <a:t>3D Point Clouds</a:t>
            </a:r>
          </a:p>
        </p:txBody>
      </p:sp>
      <p:sp>
        <p:nvSpPr>
          <p:cNvPr id="3" name="Content Placeholder 2">
            <a:extLst>
              <a:ext uri="{FF2B5EF4-FFF2-40B4-BE49-F238E27FC236}">
                <a16:creationId xmlns:a16="http://schemas.microsoft.com/office/drawing/2014/main" id="{C99A432F-3BB0-C8FE-8F1D-FE753991FAA4}"/>
              </a:ext>
            </a:extLst>
          </p:cNvPr>
          <p:cNvSpPr>
            <a:spLocks noGrp="1"/>
          </p:cNvSpPr>
          <p:nvPr>
            <p:ph idx="1"/>
          </p:nvPr>
        </p:nvSpPr>
        <p:spPr>
          <a:xfrm>
            <a:off x="838200" y="1706968"/>
            <a:ext cx="6136532" cy="4351338"/>
          </a:xfrm>
        </p:spPr>
        <p:txBody>
          <a:bodyPr>
            <a:normAutofit fontScale="92500" lnSpcReduction="10000"/>
          </a:bodyPr>
          <a:lstStyle/>
          <a:p>
            <a:r>
              <a:rPr lang="en-US" b="0" i="0" dirty="0">
                <a:solidFill>
                  <a:srgbClr val="242424"/>
                </a:solidFill>
                <a:effectLst/>
                <a:latin typeface="source-serif-pro"/>
              </a:rPr>
              <a:t>Imagine you’re standing in front of a beautiful statue. When you look at it from the front, you see its width and height, much like looking at a photograph — a representation in two dimensions. However, if you could walk around the statue, you would also perceive its depth, seeing it from different angles — front, back, sides, and even from above or below. This ability to view objects in three dimensions is at the heart of 3D computer vision.</a:t>
            </a:r>
            <a:endParaRPr lang="en-MY" dirty="0"/>
          </a:p>
        </p:txBody>
      </p:sp>
      <p:pic>
        <p:nvPicPr>
          <p:cNvPr id="5" name="Picture 4">
            <a:extLst>
              <a:ext uri="{FF2B5EF4-FFF2-40B4-BE49-F238E27FC236}">
                <a16:creationId xmlns:a16="http://schemas.microsoft.com/office/drawing/2014/main" id="{6A3D4EC3-DF78-AB3F-B673-1C181C40F598}"/>
              </a:ext>
            </a:extLst>
          </p:cNvPr>
          <p:cNvPicPr>
            <a:picLocks noChangeAspect="1"/>
          </p:cNvPicPr>
          <p:nvPr/>
        </p:nvPicPr>
        <p:blipFill>
          <a:blip r:embed="rId2"/>
          <a:stretch>
            <a:fillRect/>
          </a:stretch>
        </p:blipFill>
        <p:spPr>
          <a:xfrm>
            <a:off x="7409335" y="815198"/>
            <a:ext cx="4048125" cy="4982488"/>
          </a:xfrm>
          <a:prstGeom prst="rect">
            <a:avLst/>
          </a:prstGeom>
        </p:spPr>
      </p:pic>
    </p:spTree>
    <p:extLst>
      <p:ext uri="{BB962C8B-B14F-4D97-AF65-F5344CB8AC3E}">
        <p14:creationId xmlns:p14="http://schemas.microsoft.com/office/powerpoint/2010/main" val="286338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889EC-8B17-D231-9EFE-A1235139A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5EA53-E3A8-C784-DC56-C035AC9207A2}"/>
              </a:ext>
            </a:extLst>
          </p:cNvPr>
          <p:cNvSpPr>
            <a:spLocks noGrp="1"/>
          </p:cNvSpPr>
          <p:nvPr>
            <p:ph type="title"/>
          </p:nvPr>
        </p:nvSpPr>
        <p:spPr/>
        <p:txBody>
          <a:bodyPr/>
          <a:lstStyle/>
          <a:p>
            <a:r>
              <a:rPr lang="en-MY" dirty="0"/>
              <a:t>Importance of 3D Point Clouds</a:t>
            </a:r>
          </a:p>
        </p:txBody>
      </p:sp>
      <p:sp>
        <p:nvSpPr>
          <p:cNvPr id="3" name="Content Placeholder 2">
            <a:extLst>
              <a:ext uri="{FF2B5EF4-FFF2-40B4-BE49-F238E27FC236}">
                <a16:creationId xmlns:a16="http://schemas.microsoft.com/office/drawing/2014/main" id="{0CB563FF-146E-F2D0-212F-DF8375F9BBD9}"/>
              </a:ext>
            </a:extLst>
          </p:cNvPr>
          <p:cNvSpPr>
            <a:spLocks noGrp="1"/>
          </p:cNvSpPr>
          <p:nvPr>
            <p:ph idx="1"/>
          </p:nvPr>
        </p:nvSpPr>
        <p:spPr/>
        <p:txBody>
          <a:bodyPr/>
          <a:lstStyle/>
          <a:p>
            <a:r>
              <a:rPr lang="en-US" b="0" i="0" dirty="0">
                <a:solidFill>
                  <a:srgbClr val="242424"/>
                </a:solidFill>
                <a:effectLst/>
                <a:latin typeface="source-serif-pro"/>
              </a:rPr>
              <a:t>3D point clouds offer a richer and </a:t>
            </a:r>
            <a:r>
              <a:rPr lang="en-US" b="0" i="0" dirty="0">
                <a:solidFill>
                  <a:srgbClr val="FF0000"/>
                </a:solidFill>
                <a:effectLst/>
                <a:latin typeface="source-serif-pro"/>
              </a:rPr>
              <a:t>more accurate representation of the real world</a:t>
            </a:r>
            <a:r>
              <a:rPr lang="en-US" b="0" i="0" dirty="0">
                <a:solidFill>
                  <a:srgbClr val="242424"/>
                </a:solidFill>
                <a:effectLst/>
                <a:latin typeface="source-serif-pro"/>
              </a:rPr>
              <a:t> compared to traditional two-dimensional data. </a:t>
            </a:r>
          </a:p>
          <a:p>
            <a:endParaRPr lang="en-US" dirty="0">
              <a:solidFill>
                <a:srgbClr val="242424"/>
              </a:solidFill>
              <a:latin typeface="source-serif-pro"/>
            </a:endParaRPr>
          </a:p>
          <a:p>
            <a:r>
              <a:rPr lang="en-US" b="0" i="0" dirty="0">
                <a:solidFill>
                  <a:srgbClr val="242424"/>
                </a:solidFill>
                <a:effectLst/>
                <a:latin typeface="source-serif-pro"/>
              </a:rPr>
              <a:t>By capturing spatial information in three dimensions, point clouds provide </a:t>
            </a:r>
            <a:r>
              <a:rPr lang="en-US" b="0" i="0" dirty="0">
                <a:solidFill>
                  <a:srgbClr val="FF0000"/>
                </a:solidFill>
                <a:effectLst/>
                <a:latin typeface="source-serif-pro"/>
              </a:rPr>
              <a:t>depth, shape, and spatial relationships </a:t>
            </a:r>
            <a:r>
              <a:rPr lang="en-US" b="0" i="0" dirty="0">
                <a:solidFill>
                  <a:srgbClr val="242424"/>
                </a:solidFill>
                <a:effectLst/>
                <a:latin typeface="source-serif-pro"/>
              </a:rPr>
              <a:t>of objects and environments. </a:t>
            </a:r>
            <a:endParaRPr lang="en-MY" dirty="0"/>
          </a:p>
        </p:txBody>
      </p:sp>
    </p:spTree>
    <p:extLst>
      <p:ext uri="{BB962C8B-B14F-4D97-AF65-F5344CB8AC3E}">
        <p14:creationId xmlns:p14="http://schemas.microsoft.com/office/powerpoint/2010/main" val="359400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74D5B-7F00-4CCE-6A23-D047B78AB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CC5BC-DC01-2816-CCF1-A7AE3B318A5C}"/>
              </a:ext>
            </a:extLst>
          </p:cNvPr>
          <p:cNvSpPr>
            <a:spLocks noGrp="1"/>
          </p:cNvSpPr>
          <p:nvPr>
            <p:ph type="title"/>
          </p:nvPr>
        </p:nvSpPr>
        <p:spPr/>
        <p:txBody>
          <a:bodyPr/>
          <a:lstStyle/>
          <a:p>
            <a:r>
              <a:rPr lang="en-MY" dirty="0"/>
              <a:t>Applications of 3D Point Clouds</a:t>
            </a:r>
          </a:p>
        </p:txBody>
      </p:sp>
      <p:sp>
        <p:nvSpPr>
          <p:cNvPr id="3" name="Content Placeholder 2">
            <a:extLst>
              <a:ext uri="{FF2B5EF4-FFF2-40B4-BE49-F238E27FC236}">
                <a16:creationId xmlns:a16="http://schemas.microsoft.com/office/drawing/2014/main" id="{0D8F68E7-ACA8-878A-855C-874009621AEE}"/>
              </a:ext>
            </a:extLst>
          </p:cNvPr>
          <p:cNvSpPr>
            <a:spLocks noGrp="1"/>
          </p:cNvSpPr>
          <p:nvPr>
            <p:ph idx="1"/>
          </p:nvPr>
        </p:nvSpPr>
        <p:spPr/>
        <p:txBody>
          <a:bodyPr>
            <a:normAutofit fontScale="70000" lnSpcReduction="20000"/>
          </a:bodyPr>
          <a:lstStyle/>
          <a:p>
            <a:pPr algn="l">
              <a:lnSpc>
                <a:spcPts val="2400"/>
              </a:lnSpc>
              <a:buFont typeface="+mj-lt"/>
              <a:buAutoNum type="arabicPeriod"/>
            </a:pPr>
            <a:r>
              <a:rPr lang="en-US" b="1" i="0" dirty="0">
                <a:solidFill>
                  <a:srgbClr val="242424"/>
                </a:solidFill>
                <a:effectLst/>
                <a:latin typeface="source-serif-pro"/>
              </a:rPr>
              <a:t>Robotics:</a:t>
            </a:r>
            <a:r>
              <a:rPr lang="en-US" b="0" i="0" dirty="0">
                <a:solidFill>
                  <a:srgbClr val="242424"/>
                </a:solidFill>
                <a:effectLst/>
                <a:latin typeface="source-serif-pro"/>
              </a:rPr>
              <a:t> From self-driving cars to warehouse robots, point clouds help robots “see” the world in 3D, enabling them to navigate safely and efficiently.</a:t>
            </a:r>
          </a:p>
          <a:p>
            <a:pPr algn="l">
              <a:lnSpc>
                <a:spcPts val="2400"/>
              </a:lnSpc>
              <a:buFont typeface="+mj-lt"/>
              <a:buAutoNum type="arabicPeriod"/>
            </a:pPr>
            <a:r>
              <a:rPr lang="en-US" b="1" i="0" dirty="0">
                <a:solidFill>
                  <a:srgbClr val="242424"/>
                </a:solidFill>
                <a:effectLst/>
                <a:latin typeface="source-serif-pro"/>
              </a:rPr>
              <a:t>City Builders:</a:t>
            </a:r>
            <a:r>
              <a:rPr lang="en-US" b="0" i="0" dirty="0">
                <a:solidFill>
                  <a:srgbClr val="242424"/>
                </a:solidFill>
                <a:effectLst/>
                <a:latin typeface="source-serif-pro"/>
              </a:rPr>
              <a:t> Architects and planners use point clouds to create digital models of cities, helping them design new buildings, improve infrastructure, and even simulate future development.</a:t>
            </a:r>
          </a:p>
          <a:p>
            <a:pPr algn="l">
              <a:lnSpc>
                <a:spcPts val="2400"/>
              </a:lnSpc>
              <a:buFont typeface="+mj-lt"/>
              <a:buAutoNum type="arabicPeriod"/>
            </a:pPr>
            <a:r>
              <a:rPr lang="en-US" b="1" i="0" dirty="0">
                <a:solidFill>
                  <a:srgbClr val="242424"/>
                </a:solidFill>
                <a:effectLst/>
                <a:latin typeface="source-serif-pro"/>
              </a:rPr>
              <a:t>VR &amp; AR Magic:</a:t>
            </a:r>
            <a:r>
              <a:rPr lang="en-US" b="0" i="0" dirty="0">
                <a:solidFill>
                  <a:srgbClr val="242424"/>
                </a:solidFill>
                <a:effectLst/>
                <a:latin typeface="source-serif-pro"/>
              </a:rPr>
              <a:t> 3D point clouds power stunning AR/VR experiences by mapping real-world spaces and allowing digital objects to interact with them, making training, entertainment, and visualization more immersive.</a:t>
            </a:r>
          </a:p>
          <a:p>
            <a:pPr algn="l">
              <a:lnSpc>
                <a:spcPts val="2400"/>
              </a:lnSpc>
              <a:buFont typeface="+mj-lt"/>
              <a:buAutoNum type="arabicPeriod"/>
            </a:pPr>
            <a:r>
              <a:rPr lang="en-US" b="1" i="0" dirty="0">
                <a:solidFill>
                  <a:srgbClr val="242424"/>
                </a:solidFill>
                <a:effectLst/>
                <a:latin typeface="source-serif-pro"/>
              </a:rPr>
              <a:t>Earth Watchers:</a:t>
            </a:r>
            <a:r>
              <a:rPr lang="en-US" b="0" i="0" dirty="0">
                <a:solidFill>
                  <a:srgbClr val="242424"/>
                </a:solidFill>
                <a:effectLst/>
                <a:latin typeface="source-serif-pro"/>
              </a:rPr>
              <a:t> Scientists use point clouds to study Earth’s surface, from creating detailed maps to monitoring forests and water resources, helping us understand and protect our planet.</a:t>
            </a:r>
          </a:p>
          <a:p>
            <a:pPr algn="l">
              <a:lnSpc>
                <a:spcPts val="2400"/>
              </a:lnSpc>
              <a:buFont typeface="+mj-lt"/>
              <a:buAutoNum type="arabicPeriod"/>
            </a:pPr>
            <a:r>
              <a:rPr lang="en-US" b="1" i="0" dirty="0">
                <a:solidFill>
                  <a:srgbClr val="242424"/>
                </a:solidFill>
                <a:effectLst/>
                <a:latin typeface="source-serif-pro"/>
              </a:rPr>
              <a:t>Factory:</a:t>
            </a:r>
            <a:r>
              <a:rPr lang="en-US" b="0" i="0" dirty="0">
                <a:solidFill>
                  <a:srgbClr val="242424"/>
                </a:solidFill>
                <a:effectLst/>
                <a:latin typeface="source-serif-pro"/>
              </a:rPr>
              <a:t> In manufacturing, point clouds ensure quality by letting robots inspect products against digital models, leading to fewer defects, less waste, and smoother production.</a:t>
            </a:r>
          </a:p>
        </p:txBody>
      </p:sp>
    </p:spTree>
    <p:extLst>
      <p:ext uri="{BB962C8B-B14F-4D97-AF65-F5344CB8AC3E}">
        <p14:creationId xmlns:p14="http://schemas.microsoft.com/office/powerpoint/2010/main" val="3586856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2159-9831-5EAB-6C88-F6CFA3FB0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09F57-8A9D-1C90-CDE1-ED3FEE9728EF}"/>
              </a:ext>
            </a:extLst>
          </p:cNvPr>
          <p:cNvSpPr>
            <a:spLocks noGrp="1"/>
          </p:cNvSpPr>
          <p:nvPr>
            <p:ph type="title"/>
          </p:nvPr>
        </p:nvSpPr>
        <p:spPr/>
        <p:txBody>
          <a:bodyPr/>
          <a:lstStyle/>
          <a:p>
            <a:r>
              <a:rPr lang="en-MY" dirty="0"/>
              <a:t>Applications of 3D Point Clouds</a:t>
            </a:r>
          </a:p>
        </p:txBody>
      </p:sp>
      <p:pic>
        <p:nvPicPr>
          <p:cNvPr id="2052" name="Picture 4">
            <a:extLst>
              <a:ext uri="{FF2B5EF4-FFF2-40B4-BE49-F238E27FC236}">
                <a16:creationId xmlns:a16="http://schemas.microsoft.com/office/drawing/2014/main" id="{D696711C-9B68-3413-F854-1C9604831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04" y="1544548"/>
            <a:ext cx="3472775" cy="195343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1A2F2A8-C106-DC60-CADE-6F5210CA52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895" r="11618"/>
          <a:stretch/>
        </p:blipFill>
        <p:spPr bwMode="auto">
          <a:xfrm>
            <a:off x="564204" y="4116299"/>
            <a:ext cx="3469590" cy="206542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8" name="Picture 10" descr="Lidar Sensor Processing ...">
            <a:extLst>
              <a:ext uri="{FF2B5EF4-FFF2-40B4-BE49-F238E27FC236}">
                <a16:creationId xmlns:a16="http://schemas.microsoft.com/office/drawing/2014/main" id="{FA2038BC-D765-86B9-322F-1C8F069C74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6129" y="1544548"/>
            <a:ext cx="3477244" cy="184023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38C5CF8E-0738-3A85-DBFC-8FFDE03F61A1}"/>
              </a:ext>
            </a:extLst>
          </p:cNvPr>
          <p:cNvCxnSpPr>
            <a:cxnSpLocks/>
          </p:cNvCxnSpPr>
          <p:nvPr/>
        </p:nvCxnSpPr>
        <p:spPr>
          <a:xfrm>
            <a:off x="2238780" y="3571875"/>
            <a:ext cx="0" cy="473391"/>
          </a:xfrm>
          <a:prstGeom prst="straightConnector1">
            <a:avLst/>
          </a:prstGeom>
          <a:ln w="7620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pic>
        <p:nvPicPr>
          <p:cNvPr id="2060" name="Picture 12" descr="Indoor 3D Point Cloud Segmentation ...">
            <a:extLst>
              <a:ext uri="{FF2B5EF4-FFF2-40B4-BE49-F238E27FC236}">
                <a16:creationId xmlns:a16="http://schemas.microsoft.com/office/drawing/2014/main" id="{1D902D93-E105-63C9-70CC-AEEE16BFB7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6130" y="3497985"/>
            <a:ext cx="3477244" cy="268374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CA2036F-A261-21E4-BCC6-E6701333A6E4}"/>
              </a:ext>
            </a:extLst>
          </p:cNvPr>
          <p:cNvPicPr>
            <a:picLocks noChangeAspect="1"/>
          </p:cNvPicPr>
          <p:nvPr/>
        </p:nvPicPr>
        <p:blipFill>
          <a:blip r:embed="rId7"/>
          <a:stretch>
            <a:fillRect/>
          </a:stretch>
        </p:blipFill>
        <p:spPr>
          <a:xfrm>
            <a:off x="8067950" y="1544548"/>
            <a:ext cx="3364992" cy="1840230"/>
          </a:xfrm>
          <a:prstGeom prst="rect">
            <a:avLst/>
          </a:prstGeom>
          <a:ln>
            <a:solidFill>
              <a:schemeClr val="tx1"/>
            </a:solidFill>
          </a:ln>
        </p:spPr>
      </p:pic>
      <p:pic>
        <p:nvPicPr>
          <p:cNvPr id="2066" name="Picture 18" descr="main figure">
            <a:extLst>
              <a:ext uri="{FF2B5EF4-FFF2-40B4-BE49-F238E27FC236}">
                <a16:creationId xmlns:a16="http://schemas.microsoft.com/office/drawing/2014/main" id="{ABBED20A-1A17-668B-A9CE-FB39ABE2979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5938" t="49690" r="46015" b="852"/>
          <a:stretch/>
        </p:blipFill>
        <p:spPr bwMode="auto">
          <a:xfrm>
            <a:off x="8676870" y="3497984"/>
            <a:ext cx="2464239" cy="2683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409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76C78-0FB6-448A-5341-87190C4E2EB4}"/>
              </a:ext>
            </a:extLst>
          </p:cNvPr>
          <p:cNvSpPr>
            <a:spLocks noGrp="1"/>
          </p:cNvSpPr>
          <p:nvPr>
            <p:ph type="title"/>
          </p:nvPr>
        </p:nvSpPr>
        <p:spPr/>
        <p:txBody>
          <a:bodyPr/>
          <a:lstStyle/>
          <a:p>
            <a:r>
              <a:rPr lang="en-MY" b="1" i="0" dirty="0">
                <a:solidFill>
                  <a:srgbClr val="242424"/>
                </a:solidFill>
                <a:effectLst/>
                <a:latin typeface="sohne"/>
              </a:rPr>
              <a:t>2D-2.5D-3D Data</a:t>
            </a:r>
            <a:endParaRPr lang="en-MY" dirty="0"/>
          </a:p>
        </p:txBody>
      </p:sp>
      <p:pic>
        <p:nvPicPr>
          <p:cNvPr id="4098" name="Picture 2">
            <a:extLst>
              <a:ext uri="{FF2B5EF4-FFF2-40B4-BE49-F238E27FC236}">
                <a16:creationId xmlns:a16="http://schemas.microsoft.com/office/drawing/2014/main" id="{E186776B-CEFF-C954-8BFD-7F65AB25F7D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214731"/>
            <a:ext cx="5557467" cy="277555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45646D63-24C6-586E-8DB0-3BF566B3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3016" y="1757700"/>
            <a:ext cx="3875339" cy="36896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18970EF-4253-47F5-BE7E-B564FE9F7F7E}"/>
              </a:ext>
            </a:extLst>
          </p:cNvPr>
          <p:cNvSpPr txBox="1"/>
          <p:nvPr/>
        </p:nvSpPr>
        <p:spPr>
          <a:xfrm>
            <a:off x="1371600" y="5191166"/>
            <a:ext cx="1635384" cy="646331"/>
          </a:xfrm>
          <a:prstGeom prst="rect">
            <a:avLst/>
          </a:prstGeom>
          <a:noFill/>
        </p:spPr>
        <p:txBody>
          <a:bodyPr wrap="none" rtlCol="0">
            <a:spAutoFit/>
          </a:bodyPr>
          <a:lstStyle/>
          <a:p>
            <a:pPr algn="ctr"/>
            <a:r>
              <a:rPr lang="en-MY" dirty="0"/>
              <a:t>2D</a:t>
            </a:r>
          </a:p>
          <a:p>
            <a:pPr algn="ctr"/>
            <a:r>
              <a:rPr lang="en-MY" dirty="0"/>
              <a:t>Width &amp; height</a:t>
            </a:r>
          </a:p>
        </p:txBody>
      </p:sp>
      <p:sp>
        <p:nvSpPr>
          <p:cNvPr id="5" name="TextBox 4">
            <a:extLst>
              <a:ext uri="{FF2B5EF4-FFF2-40B4-BE49-F238E27FC236}">
                <a16:creationId xmlns:a16="http://schemas.microsoft.com/office/drawing/2014/main" id="{E5E58C51-C442-AB58-8E7C-5A06994F43FF}"/>
              </a:ext>
            </a:extLst>
          </p:cNvPr>
          <p:cNvSpPr txBox="1"/>
          <p:nvPr/>
        </p:nvSpPr>
        <p:spPr>
          <a:xfrm>
            <a:off x="4333145" y="5191165"/>
            <a:ext cx="1293945" cy="646331"/>
          </a:xfrm>
          <a:prstGeom prst="rect">
            <a:avLst/>
          </a:prstGeom>
          <a:noFill/>
        </p:spPr>
        <p:txBody>
          <a:bodyPr wrap="none" rtlCol="0">
            <a:spAutoFit/>
          </a:bodyPr>
          <a:lstStyle/>
          <a:p>
            <a:pPr algn="ctr"/>
            <a:r>
              <a:rPr lang="en-MY" dirty="0"/>
              <a:t>2.5D</a:t>
            </a:r>
          </a:p>
          <a:p>
            <a:pPr algn="ctr"/>
            <a:r>
              <a:rPr lang="en-MY" dirty="0"/>
              <a:t>Depth map</a:t>
            </a:r>
          </a:p>
        </p:txBody>
      </p:sp>
      <p:sp>
        <p:nvSpPr>
          <p:cNvPr id="6" name="TextBox 5">
            <a:extLst>
              <a:ext uri="{FF2B5EF4-FFF2-40B4-BE49-F238E27FC236}">
                <a16:creationId xmlns:a16="http://schemas.microsoft.com/office/drawing/2014/main" id="{3826982D-2FA2-7D20-9FD3-8DB5D43AD5CE}"/>
              </a:ext>
            </a:extLst>
          </p:cNvPr>
          <p:cNvSpPr txBox="1"/>
          <p:nvPr/>
        </p:nvSpPr>
        <p:spPr>
          <a:xfrm>
            <a:off x="6963898" y="5648365"/>
            <a:ext cx="4471610" cy="646331"/>
          </a:xfrm>
          <a:prstGeom prst="rect">
            <a:avLst/>
          </a:prstGeom>
          <a:noFill/>
        </p:spPr>
        <p:txBody>
          <a:bodyPr wrap="none" rtlCol="0">
            <a:spAutoFit/>
          </a:bodyPr>
          <a:lstStyle/>
          <a:p>
            <a:pPr algn="ctr"/>
            <a:r>
              <a:rPr lang="en-MY" dirty="0"/>
              <a:t>3D</a:t>
            </a:r>
          </a:p>
          <a:p>
            <a:pPr algn="ctr"/>
            <a:r>
              <a:rPr lang="en-MY" dirty="0"/>
              <a:t>Points in 3D space (Illustrated with surface)</a:t>
            </a:r>
          </a:p>
        </p:txBody>
      </p:sp>
    </p:spTree>
    <p:extLst>
      <p:ext uri="{BB962C8B-B14F-4D97-AF65-F5344CB8AC3E}">
        <p14:creationId xmlns:p14="http://schemas.microsoft.com/office/powerpoint/2010/main" val="2295465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7650-7B40-18EF-B353-05C7BD828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D3E5A-2FFA-F189-89E6-A90366BAF8C6}"/>
              </a:ext>
            </a:extLst>
          </p:cNvPr>
          <p:cNvSpPr>
            <a:spLocks noGrp="1"/>
          </p:cNvSpPr>
          <p:nvPr>
            <p:ph type="title"/>
          </p:nvPr>
        </p:nvSpPr>
        <p:spPr/>
        <p:txBody>
          <a:bodyPr/>
          <a:lstStyle/>
          <a:p>
            <a:r>
              <a:rPr lang="en-MY" b="1" i="0" dirty="0">
                <a:solidFill>
                  <a:srgbClr val="242424"/>
                </a:solidFill>
                <a:effectLst/>
                <a:latin typeface="sohne"/>
              </a:rPr>
              <a:t>2D-2.5D-3D Data</a:t>
            </a:r>
            <a:endParaRPr lang="en-MY" dirty="0"/>
          </a:p>
        </p:txBody>
      </p:sp>
      <p:sp>
        <p:nvSpPr>
          <p:cNvPr id="3" name="Content Placeholder 2">
            <a:extLst>
              <a:ext uri="{FF2B5EF4-FFF2-40B4-BE49-F238E27FC236}">
                <a16:creationId xmlns:a16="http://schemas.microsoft.com/office/drawing/2014/main" id="{30367182-AE35-DCC2-C7C1-B352CBCCBE2E}"/>
              </a:ext>
            </a:extLst>
          </p:cNvPr>
          <p:cNvSpPr>
            <a:spLocks noGrp="1"/>
          </p:cNvSpPr>
          <p:nvPr>
            <p:ph idx="1"/>
          </p:nvPr>
        </p:nvSpPr>
        <p:spPr/>
        <p:txBody>
          <a:bodyPr>
            <a:normAutofit fontScale="70000" lnSpcReduction="20000"/>
          </a:bodyPr>
          <a:lstStyle/>
          <a:p>
            <a:pPr marL="0" indent="0" algn="l">
              <a:lnSpc>
                <a:spcPts val="2400"/>
              </a:lnSpc>
              <a:buNone/>
            </a:pPr>
            <a:r>
              <a:rPr lang="en-US" b="0" i="0" dirty="0">
                <a:solidFill>
                  <a:srgbClr val="242424"/>
                </a:solidFill>
                <a:effectLst/>
                <a:latin typeface="source-serif-pro"/>
              </a:rPr>
              <a:t>2D Data (Image): A photograph captures a mountain’s </a:t>
            </a:r>
            <a:r>
              <a:rPr lang="en-US" b="1" i="0" dirty="0">
                <a:solidFill>
                  <a:srgbClr val="242424"/>
                </a:solidFill>
                <a:effectLst/>
                <a:latin typeface="source-serif-pro"/>
              </a:rPr>
              <a:t>width and height</a:t>
            </a:r>
            <a:r>
              <a:rPr lang="en-US" b="0" i="0" dirty="0">
                <a:solidFill>
                  <a:srgbClr val="242424"/>
                </a:solidFill>
                <a:effectLst/>
                <a:latin typeface="source-serif-pro"/>
              </a:rPr>
              <a:t> while lacking depth.</a:t>
            </a:r>
          </a:p>
          <a:p>
            <a:pPr marL="0" indent="0" algn="l">
              <a:lnSpc>
                <a:spcPts val="2400"/>
              </a:lnSpc>
              <a:buNone/>
            </a:pPr>
            <a:endParaRPr lang="en-US" b="0" i="0" dirty="0">
              <a:solidFill>
                <a:srgbClr val="242424"/>
              </a:solidFill>
              <a:effectLst/>
              <a:latin typeface="source-serif-pro"/>
            </a:endParaRPr>
          </a:p>
          <a:p>
            <a:pPr marL="0" indent="0" algn="l">
              <a:lnSpc>
                <a:spcPts val="2400"/>
              </a:lnSpc>
              <a:buNone/>
            </a:pPr>
            <a:r>
              <a:rPr lang="en-US" b="0" i="0" dirty="0">
                <a:solidFill>
                  <a:srgbClr val="242424"/>
                </a:solidFill>
                <a:effectLst/>
                <a:latin typeface="source-serif-pro"/>
              </a:rPr>
              <a:t>3D Data (Point Cloud): Imagine a point cloud generated from LiDAR scanning of the mountain. Each point in the cloud represents a specific location in 3D space, including x-coordinate, y-coordinate, and z-coordinate(depth).</a:t>
            </a:r>
          </a:p>
          <a:p>
            <a:pPr marL="0" indent="0" algn="l">
              <a:lnSpc>
                <a:spcPts val="2400"/>
              </a:lnSpc>
              <a:buNone/>
            </a:pPr>
            <a:endParaRPr lang="en-US" b="0" i="0" dirty="0">
              <a:solidFill>
                <a:srgbClr val="242424"/>
              </a:solidFill>
              <a:effectLst/>
              <a:latin typeface="source-serif-pro"/>
            </a:endParaRPr>
          </a:p>
          <a:p>
            <a:pPr marL="0" indent="0" algn="l">
              <a:lnSpc>
                <a:spcPts val="2400"/>
              </a:lnSpc>
              <a:buNone/>
            </a:pPr>
            <a:r>
              <a:rPr lang="en-US" b="0" i="0" dirty="0">
                <a:solidFill>
                  <a:srgbClr val="242424"/>
                </a:solidFill>
                <a:effectLst/>
                <a:latin typeface="source-serif-pro"/>
              </a:rPr>
              <a:t>2.5D Data (Depth Map): A depth map of the mountain provides a 2.5D representation. It includes depth information alongside width and height but doesn’t offer a complete 3D model. For example, a depth map of a room indicates the distance of objects in the room from the depth camera but not a full 3D representation. </a:t>
            </a:r>
            <a:r>
              <a:rPr lang="en-US" b="1" i="0" dirty="0">
                <a:solidFill>
                  <a:srgbClr val="242424"/>
                </a:solidFill>
                <a:effectLst/>
                <a:latin typeface="source-serif-pro"/>
              </a:rPr>
              <a:t>Each depth value corresponds to a specific 2D coordinate (x, y) in the map, indicating the distance of that point from the depth camera. </a:t>
            </a:r>
            <a:r>
              <a:rPr lang="en-US" b="0" i="0" dirty="0">
                <a:solidFill>
                  <a:srgbClr val="242424"/>
                </a:solidFill>
                <a:effectLst/>
                <a:latin typeface="source-serif-pro"/>
              </a:rPr>
              <a:t>Note that each depth value is represented in 2D coordinates only. For example, at the (100, 200) location, the depth is 3.5meter.</a:t>
            </a:r>
          </a:p>
          <a:p>
            <a:endParaRPr lang="en-MY" dirty="0"/>
          </a:p>
        </p:txBody>
      </p:sp>
    </p:spTree>
    <p:extLst>
      <p:ext uri="{BB962C8B-B14F-4D97-AF65-F5344CB8AC3E}">
        <p14:creationId xmlns:p14="http://schemas.microsoft.com/office/powerpoint/2010/main" val="895173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7467A-1594-706C-5CA3-5A446CF5DB4B}"/>
              </a:ext>
            </a:extLst>
          </p:cNvPr>
          <p:cNvSpPr>
            <a:spLocks noGrp="1"/>
          </p:cNvSpPr>
          <p:nvPr>
            <p:ph type="title"/>
          </p:nvPr>
        </p:nvSpPr>
        <p:spPr/>
        <p:txBody>
          <a:bodyPr/>
          <a:lstStyle/>
          <a:p>
            <a:r>
              <a:rPr lang="en-MY" b="1" i="0" dirty="0">
                <a:solidFill>
                  <a:srgbClr val="242424"/>
                </a:solidFill>
                <a:effectLst/>
                <a:latin typeface="sohne"/>
              </a:rPr>
              <a:t>2D-2.5D-3D Data</a:t>
            </a:r>
            <a:endParaRPr lang="en-MY" dirty="0"/>
          </a:p>
        </p:txBody>
      </p:sp>
      <p:sp>
        <p:nvSpPr>
          <p:cNvPr id="3" name="Content Placeholder 2">
            <a:extLst>
              <a:ext uri="{FF2B5EF4-FFF2-40B4-BE49-F238E27FC236}">
                <a16:creationId xmlns:a16="http://schemas.microsoft.com/office/drawing/2014/main" id="{DBAD4740-B39B-76C3-E7A9-0A5E2DFBFBC0}"/>
              </a:ext>
            </a:extLst>
          </p:cNvPr>
          <p:cNvSpPr>
            <a:spLocks noGrp="1"/>
          </p:cNvSpPr>
          <p:nvPr>
            <p:ph idx="1"/>
          </p:nvPr>
        </p:nvSpPr>
        <p:spPr/>
        <p:txBody>
          <a:bodyPr/>
          <a:lstStyle/>
          <a:p>
            <a:endParaRPr lang="en-MY" dirty="0"/>
          </a:p>
        </p:txBody>
      </p:sp>
      <p:pic>
        <p:nvPicPr>
          <p:cNvPr id="7170" name="Picture 2">
            <a:extLst>
              <a:ext uri="{FF2B5EF4-FFF2-40B4-BE49-F238E27FC236}">
                <a16:creationId xmlns:a16="http://schemas.microsoft.com/office/drawing/2014/main" id="{FC28C4A8-9195-06E8-A8E1-5F1757722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943100"/>
            <a:ext cx="8334375"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303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BF78-8B0C-05F7-4B42-C6E23FA28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739EE-7A9B-499E-A009-F39E090023D3}"/>
              </a:ext>
            </a:extLst>
          </p:cNvPr>
          <p:cNvSpPr>
            <a:spLocks noGrp="1"/>
          </p:cNvSpPr>
          <p:nvPr>
            <p:ph type="title"/>
          </p:nvPr>
        </p:nvSpPr>
        <p:spPr/>
        <p:txBody>
          <a:bodyPr/>
          <a:lstStyle/>
          <a:p>
            <a:r>
              <a:rPr lang="en-MY" b="1" i="0" dirty="0">
                <a:solidFill>
                  <a:srgbClr val="242424"/>
                </a:solidFill>
                <a:effectLst/>
                <a:latin typeface="sohne"/>
              </a:rPr>
              <a:t>How to generate 2.5D Data?</a:t>
            </a:r>
            <a:endParaRPr lang="en-MY" dirty="0"/>
          </a:p>
        </p:txBody>
      </p:sp>
      <p:sp>
        <p:nvSpPr>
          <p:cNvPr id="3" name="Content Placeholder 2">
            <a:extLst>
              <a:ext uri="{FF2B5EF4-FFF2-40B4-BE49-F238E27FC236}">
                <a16:creationId xmlns:a16="http://schemas.microsoft.com/office/drawing/2014/main" id="{53A59051-4D3C-CD88-539A-9A984409421F}"/>
              </a:ext>
            </a:extLst>
          </p:cNvPr>
          <p:cNvSpPr>
            <a:spLocks noGrp="1"/>
          </p:cNvSpPr>
          <p:nvPr>
            <p:ph idx="1"/>
          </p:nvPr>
        </p:nvSpPr>
        <p:spPr/>
        <p:txBody>
          <a:bodyPr>
            <a:normAutofit fontScale="85000" lnSpcReduction="10000"/>
          </a:bodyPr>
          <a:lstStyle/>
          <a:p>
            <a:pPr algn="l">
              <a:lnSpc>
                <a:spcPts val="2400"/>
              </a:lnSpc>
            </a:pPr>
            <a:r>
              <a:rPr lang="en-US" b="1" i="0" dirty="0">
                <a:solidFill>
                  <a:srgbClr val="242424"/>
                </a:solidFill>
                <a:effectLst/>
                <a:latin typeface="source-serif-pro"/>
              </a:rPr>
              <a:t>Depth maps</a:t>
            </a:r>
            <a:r>
              <a:rPr lang="en-US" b="0" i="0" dirty="0">
                <a:solidFill>
                  <a:srgbClr val="242424"/>
                </a:solidFill>
                <a:effectLst/>
                <a:latin typeface="source-serif-pro"/>
              </a:rPr>
              <a:t> can be captured using specialized </a:t>
            </a:r>
            <a:r>
              <a:rPr lang="en-US" b="1" i="0" dirty="0">
                <a:solidFill>
                  <a:srgbClr val="FF0000"/>
                </a:solidFill>
                <a:effectLst/>
                <a:latin typeface="source-serif-pro"/>
              </a:rPr>
              <a:t>depth cameras</a:t>
            </a:r>
            <a:r>
              <a:rPr lang="en-US" b="0" i="0" dirty="0">
                <a:solidFill>
                  <a:srgbClr val="FF0000"/>
                </a:solidFill>
                <a:effectLst/>
                <a:latin typeface="source-serif-pro"/>
              </a:rPr>
              <a:t> </a:t>
            </a:r>
            <a:r>
              <a:rPr lang="en-US" b="0" i="0" dirty="0">
                <a:solidFill>
                  <a:srgbClr val="242424"/>
                </a:solidFill>
                <a:effectLst/>
                <a:latin typeface="source-serif-pro"/>
              </a:rPr>
              <a:t>or </a:t>
            </a:r>
            <a:r>
              <a:rPr lang="en-US" b="1" i="0" dirty="0">
                <a:solidFill>
                  <a:srgbClr val="242424"/>
                </a:solidFill>
                <a:effectLst/>
                <a:latin typeface="source-serif-pro"/>
              </a:rPr>
              <a:t>computed from </a:t>
            </a:r>
            <a:r>
              <a:rPr lang="en-US" b="1" i="0" dirty="0">
                <a:solidFill>
                  <a:srgbClr val="FF0000"/>
                </a:solidFill>
                <a:effectLst/>
                <a:latin typeface="source-serif-pro"/>
              </a:rPr>
              <a:t>stereo images</a:t>
            </a:r>
            <a:r>
              <a:rPr lang="en-US" b="0" i="0" dirty="0">
                <a:solidFill>
                  <a:srgbClr val="242424"/>
                </a:solidFill>
                <a:effectLst/>
                <a:latin typeface="source-serif-pro"/>
              </a:rPr>
              <a:t>.</a:t>
            </a:r>
          </a:p>
          <a:p>
            <a:pPr>
              <a:lnSpc>
                <a:spcPts val="2400"/>
              </a:lnSpc>
            </a:pPr>
            <a:r>
              <a:rPr lang="en-US" b="0" i="0" dirty="0">
                <a:solidFill>
                  <a:srgbClr val="242424"/>
                </a:solidFill>
                <a:effectLst/>
                <a:latin typeface="source-serif-pro"/>
              </a:rPr>
              <a:t>Depth map is captured by depth cameras including Intel Real sense, Azure Kinect</a:t>
            </a:r>
            <a:endParaRPr lang="en-US" dirty="0">
              <a:solidFill>
                <a:srgbClr val="242424"/>
              </a:solidFill>
              <a:latin typeface="source-serif-pro"/>
            </a:endParaRPr>
          </a:p>
          <a:p>
            <a:pPr>
              <a:lnSpc>
                <a:spcPts val="2400"/>
              </a:lnSpc>
            </a:pPr>
            <a:r>
              <a:rPr lang="en-US" b="0" i="0" dirty="0">
                <a:solidFill>
                  <a:srgbClr val="242424"/>
                </a:solidFill>
                <a:effectLst/>
                <a:latin typeface="source-serif-pro"/>
              </a:rPr>
              <a:t>Alternatively, they can be computed using two stereo images (RGB/Gray) capturing the same scene/object with two shifted cameras. These stereo images capture the same scene from slightly different angles, allowing algorithms to calculate the </a:t>
            </a:r>
            <a:r>
              <a:rPr lang="en-US" b="1" i="0" dirty="0">
                <a:solidFill>
                  <a:srgbClr val="242424"/>
                </a:solidFill>
                <a:effectLst/>
                <a:latin typeface="source-serif-pro"/>
              </a:rPr>
              <a:t>relative distance</a:t>
            </a:r>
            <a:r>
              <a:rPr lang="en-US" b="0" i="0" dirty="0">
                <a:solidFill>
                  <a:srgbClr val="242424"/>
                </a:solidFill>
                <a:effectLst/>
                <a:latin typeface="source-serif-pro"/>
              </a:rPr>
              <a:t> of objects from the camera. This information is then used to create a depth map, providing a </a:t>
            </a:r>
            <a:r>
              <a:rPr lang="en-US" b="1" i="0" dirty="0">
                <a:solidFill>
                  <a:srgbClr val="242424"/>
                </a:solidFill>
                <a:effectLst/>
                <a:latin typeface="source-serif-pro"/>
              </a:rPr>
              <a:t>2.5D representation</a:t>
            </a:r>
            <a:r>
              <a:rPr lang="en-US" b="0" i="0" dirty="0">
                <a:solidFill>
                  <a:srgbClr val="242424"/>
                </a:solidFill>
                <a:effectLst/>
                <a:latin typeface="source-serif-pro"/>
              </a:rPr>
              <a:t> of the scene.</a:t>
            </a:r>
          </a:p>
          <a:p>
            <a:pPr algn="l">
              <a:lnSpc>
                <a:spcPts val="2400"/>
              </a:lnSpc>
            </a:pPr>
            <a:r>
              <a:rPr lang="en-US" b="0" i="0" dirty="0">
                <a:solidFill>
                  <a:srgbClr val="242424"/>
                </a:solidFill>
                <a:effectLst/>
                <a:latin typeface="source-serif-pro"/>
              </a:rPr>
              <a:t>In depth maps, each (x, y) represents depth values in millimeters or meters. This depth map of size width x height is projected as a 3D point cloud using a projection matrix using depth camera parameters.</a:t>
            </a:r>
          </a:p>
        </p:txBody>
      </p:sp>
    </p:spTree>
    <p:extLst>
      <p:ext uri="{BB962C8B-B14F-4D97-AF65-F5344CB8AC3E}">
        <p14:creationId xmlns:p14="http://schemas.microsoft.com/office/powerpoint/2010/main" val="3935101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AE873-3CAD-4BB0-4A35-2B65EFEF0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FFEE4-A8B6-C845-77F0-0C338346FC55}"/>
              </a:ext>
            </a:extLst>
          </p:cNvPr>
          <p:cNvSpPr>
            <a:spLocks noGrp="1"/>
          </p:cNvSpPr>
          <p:nvPr>
            <p:ph type="title"/>
          </p:nvPr>
        </p:nvSpPr>
        <p:spPr/>
        <p:txBody>
          <a:bodyPr/>
          <a:lstStyle/>
          <a:p>
            <a:r>
              <a:rPr lang="en-MY" b="1" i="0" dirty="0">
                <a:solidFill>
                  <a:srgbClr val="242424"/>
                </a:solidFill>
                <a:effectLst/>
                <a:latin typeface="sohne"/>
              </a:rPr>
              <a:t>How to generate 2.5D Data?</a:t>
            </a:r>
            <a:endParaRPr lang="en-MY" dirty="0"/>
          </a:p>
        </p:txBody>
      </p:sp>
      <p:sp>
        <p:nvSpPr>
          <p:cNvPr id="3" name="Content Placeholder 2">
            <a:extLst>
              <a:ext uri="{FF2B5EF4-FFF2-40B4-BE49-F238E27FC236}">
                <a16:creationId xmlns:a16="http://schemas.microsoft.com/office/drawing/2014/main" id="{4249670E-8AE8-1F69-A947-EA81A3CAF094}"/>
              </a:ext>
            </a:extLst>
          </p:cNvPr>
          <p:cNvSpPr>
            <a:spLocks noGrp="1"/>
          </p:cNvSpPr>
          <p:nvPr>
            <p:ph idx="1"/>
          </p:nvPr>
        </p:nvSpPr>
        <p:spPr/>
        <p:txBody>
          <a:bodyPr>
            <a:normAutofit fontScale="85000" lnSpcReduction="10000"/>
          </a:bodyPr>
          <a:lstStyle/>
          <a:p>
            <a:pPr algn="l">
              <a:lnSpc>
                <a:spcPts val="2400"/>
              </a:lnSpc>
            </a:pPr>
            <a:r>
              <a:rPr lang="en-US" b="1" i="0" dirty="0">
                <a:solidFill>
                  <a:srgbClr val="242424"/>
                </a:solidFill>
                <a:effectLst/>
                <a:latin typeface="source-serif-pro"/>
              </a:rPr>
              <a:t>Depth maps</a:t>
            </a:r>
            <a:r>
              <a:rPr lang="en-US" b="0" i="0" dirty="0">
                <a:solidFill>
                  <a:srgbClr val="242424"/>
                </a:solidFill>
                <a:effectLst/>
                <a:latin typeface="source-serif-pro"/>
              </a:rPr>
              <a:t> can be captured using specialized </a:t>
            </a:r>
            <a:r>
              <a:rPr lang="en-US" b="1" i="0" dirty="0">
                <a:solidFill>
                  <a:srgbClr val="FF0000"/>
                </a:solidFill>
                <a:effectLst/>
                <a:latin typeface="source-serif-pro"/>
              </a:rPr>
              <a:t>depth cameras</a:t>
            </a:r>
            <a:r>
              <a:rPr lang="en-US" b="0" i="0" dirty="0">
                <a:solidFill>
                  <a:srgbClr val="FF0000"/>
                </a:solidFill>
                <a:effectLst/>
                <a:latin typeface="source-serif-pro"/>
              </a:rPr>
              <a:t> </a:t>
            </a:r>
            <a:r>
              <a:rPr lang="en-US" b="0" i="0" dirty="0">
                <a:solidFill>
                  <a:srgbClr val="242424"/>
                </a:solidFill>
                <a:effectLst/>
                <a:latin typeface="source-serif-pro"/>
              </a:rPr>
              <a:t>or </a:t>
            </a:r>
            <a:r>
              <a:rPr lang="en-US" b="1" i="0" dirty="0">
                <a:solidFill>
                  <a:srgbClr val="242424"/>
                </a:solidFill>
                <a:effectLst/>
                <a:latin typeface="source-serif-pro"/>
              </a:rPr>
              <a:t>computed from </a:t>
            </a:r>
            <a:r>
              <a:rPr lang="en-US" b="1" i="0" dirty="0">
                <a:solidFill>
                  <a:srgbClr val="FF0000"/>
                </a:solidFill>
                <a:effectLst/>
                <a:latin typeface="source-serif-pro"/>
              </a:rPr>
              <a:t>stereo images</a:t>
            </a:r>
            <a:r>
              <a:rPr lang="en-US" b="0" i="0" dirty="0">
                <a:solidFill>
                  <a:srgbClr val="242424"/>
                </a:solidFill>
                <a:effectLst/>
                <a:latin typeface="source-serif-pro"/>
              </a:rPr>
              <a:t>.</a:t>
            </a:r>
          </a:p>
          <a:p>
            <a:pPr>
              <a:lnSpc>
                <a:spcPts val="2400"/>
              </a:lnSpc>
            </a:pPr>
            <a:r>
              <a:rPr lang="en-US" b="0" i="0" dirty="0">
                <a:solidFill>
                  <a:srgbClr val="242424"/>
                </a:solidFill>
                <a:effectLst/>
                <a:latin typeface="source-serif-pro"/>
              </a:rPr>
              <a:t>Depth map is captured by depth cameras including Intel Real sense, Azure Kinect</a:t>
            </a:r>
            <a:endParaRPr lang="en-US" dirty="0">
              <a:solidFill>
                <a:srgbClr val="242424"/>
              </a:solidFill>
              <a:latin typeface="source-serif-pro"/>
            </a:endParaRPr>
          </a:p>
          <a:p>
            <a:pPr>
              <a:lnSpc>
                <a:spcPts val="2400"/>
              </a:lnSpc>
            </a:pPr>
            <a:r>
              <a:rPr lang="en-US" b="0" i="0" dirty="0">
                <a:solidFill>
                  <a:srgbClr val="242424"/>
                </a:solidFill>
                <a:effectLst/>
                <a:latin typeface="source-serif-pro"/>
              </a:rPr>
              <a:t>Alternatively, they can be computed using two stereo images (RGB/Gray) capturing the same scene/object with two shifted cameras. These stereo images capture the same scene from slightly different angles, allowing algorithms to calculate the </a:t>
            </a:r>
            <a:r>
              <a:rPr lang="en-US" b="1" i="0" dirty="0">
                <a:solidFill>
                  <a:srgbClr val="242424"/>
                </a:solidFill>
                <a:effectLst/>
                <a:latin typeface="source-serif-pro"/>
              </a:rPr>
              <a:t>relative distance</a:t>
            </a:r>
            <a:r>
              <a:rPr lang="en-US" b="0" i="0" dirty="0">
                <a:solidFill>
                  <a:srgbClr val="242424"/>
                </a:solidFill>
                <a:effectLst/>
                <a:latin typeface="source-serif-pro"/>
              </a:rPr>
              <a:t> of objects from the camera. This information is then used to create a depth map, providing a </a:t>
            </a:r>
            <a:r>
              <a:rPr lang="en-US" b="1" i="0" dirty="0">
                <a:solidFill>
                  <a:srgbClr val="242424"/>
                </a:solidFill>
                <a:effectLst/>
                <a:latin typeface="source-serif-pro"/>
              </a:rPr>
              <a:t>2.5D representation</a:t>
            </a:r>
            <a:r>
              <a:rPr lang="en-US" b="0" i="0" dirty="0">
                <a:solidFill>
                  <a:srgbClr val="242424"/>
                </a:solidFill>
                <a:effectLst/>
                <a:latin typeface="source-serif-pro"/>
              </a:rPr>
              <a:t> of the scene.</a:t>
            </a:r>
          </a:p>
          <a:p>
            <a:pPr algn="l">
              <a:lnSpc>
                <a:spcPts val="2400"/>
              </a:lnSpc>
            </a:pPr>
            <a:r>
              <a:rPr lang="en-US" b="0" i="0" dirty="0">
                <a:solidFill>
                  <a:srgbClr val="242424"/>
                </a:solidFill>
                <a:effectLst/>
                <a:latin typeface="source-serif-pro"/>
              </a:rPr>
              <a:t>In depth maps, each (x, y) represents depth values in millimeters or meters. This depth map of size width x height is projected as a 3D point cloud using a projection matrix using depth camera parameters.</a:t>
            </a:r>
          </a:p>
        </p:txBody>
      </p:sp>
    </p:spTree>
    <p:extLst>
      <p:ext uri="{BB962C8B-B14F-4D97-AF65-F5344CB8AC3E}">
        <p14:creationId xmlns:p14="http://schemas.microsoft.com/office/powerpoint/2010/main" val="2373443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82DB-A969-902A-0C9E-A45BDC4DA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7B01D-532A-AFCF-1035-7517205EC2B7}"/>
              </a:ext>
            </a:extLst>
          </p:cNvPr>
          <p:cNvSpPr>
            <a:spLocks noGrp="1"/>
          </p:cNvSpPr>
          <p:nvPr>
            <p:ph type="title"/>
          </p:nvPr>
        </p:nvSpPr>
        <p:spPr/>
        <p:txBody>
          <a:bodyPr/>
          <a:lstStyle/>
          <a:p>
            <a:r>
              <a:rPr lang="en-MY" b="1" i="0" dirty="0">
                <a:solidFill>
                  <a:srgbClr val="242424"/>
                </a:solidFill>
                <a:effectLst/>
                <a:latin typeface="sohne"/>
              </a:rPr>
              <a:t>3D Data</a:t>
            </a:r>
            <a:endParaRPr lang="en-MY" dirty="0"/>
          </a:p>
        </p:txBody>
      </p:sp>
      <p:sp>
        <p:nvSpPr>
          <p:cNvPr id="3" name="Content Placeholder 2">
            <a:extLst>
              <a:ext uri="{FF2B5EF4-FFF2-40B4-BE49-F238E27FC236}">
                <a16:creationId xmlns:a16="http://schemas.microsoft.com/office/drawing/2014/main" id="{3E89CFCC-EB69-BAD9-A820-5CB83AF27FBF}"/>
              </a:ext>
            </a:extLst>
          </p:cNvPr>
          <p:cNvSpPr>
            <a:spLocks noGrp="1"/>
          </p:cNvSpPr>
          <p:nvPr>
            <p:ph idx="1"/>
          </p:nvPr>
        </p:nvSpPr>
        <p:spPr>
          <a:xfrm>
            <a:off x="838200" y="1825625"/>
            <a:ext cx="6097621" cy="4351338"/>
          </a:xfrm>
        </p:spPr>
        <p:txBody>
          <a:bodyPr>
            <a:normAutofit/>
          </a:bodyPr>
          <a:lstStyle/>
          <a:p>
            <a:pPr algn="l">
              <a:lnSpc>
                <a:spcPts val="2400"/>
              </a:lnSpc>
            </a:pPr>
            <a:r>
              <a:rPr lang="en-US" b="0" i="0" dirty="0">
                <a:solidFill>
                  <a:srgbClr val="242424"/>
                </a:solidFill>
                <a:effectLst/>
                <a:latin typeface="source-serif-pro"/>
              </a:rPr>
              <a:t>It consists of a collection of 3D points represented as arrays in various file formats such as PCD and OBJ</a:t>
            </a:r>
          </a:p>
          <a:p>
            <a:pPr algn="l">
              <a:lnSpc>
                <a:spcPts val="2400"/>
              </a:lnSpc>
            </a:pPr>
            <a:r>
              <a:rPr lang="en-US" b="0" i="0" dirty="0">
                <a:solidFill>
                  <a:srgbClr val="242424"/>
                </a:solidFill>
                <a:effectLst/>
                <a:latin typeface="source-serif-pro"/>
              </a:rPr>
              <a:t>3D data is essentially a </a:t>
            </a:r>
            <a:r>
              <a:rPr lang="en-US" b="1" i="0" dirty="0">
                <a:solidFill>
                  <a:srgbClr val="242424"/>
                </a:solidFill>
                <a:effectLst/>
                <a:latin typeface="source-serif-pro"/>
              </a:rPr>
              <a:t>collection of individual points</a:t>
            </a:r>
            <a:r>
              <a:rPr lang="en-US" b="0" i="0" dirty="0">
                <a:solidFill>
                  <a:srgbClr val="242424"/>
                </a:solidFill>
                <a:effectLst/>
                <a:latin typeface="source-serif-pro"/>
              </a:rPr>
              <a:t> in 3D space, each with its own </a:t>
            </a:r>
            <a:r>
              <a:rPr lang="en-US" b="1" i="0" dirty="0">
                <a:solidFill>
                  <a:srgbClr val="242424"/>
                </a:solidFill>
                <a:effectLst/>
                <a:latin typeface="source-serif-pro"/>
              </a:rPr>
              <a:t>x, y, and z coordinates</a:t>
            </a:r>
            <a:r>
              <a:rPr lang="en-US" b="0" i="0" dirty="0">
                <a:solidFill>
                  <a:srgbClr val="242424"/>
                </a:solidFill>
                <a:effectLst/>
                <a:latin typeface="source-serif-pro"/>
              </a:rPr>
              <a:t>. These points come together to form a </a:t>
            </a:r>
            <a:r>
              <a:rPr lang="en-US" b="1" i="0" dirty="0">
                <a:solidFill>
                  <a:srgbClr val="242424"/>
                </a:solidFill>
                <a:effectLst/>
                <a:latin typeface="source-serif-pro"/>
              </a:rPr>
              <a:t>complete representation</a:t>
            </a:r>
            <a:r>
              <a:rPr lang="en-US" b="0" i="0" dirty="0">
                <a:solidFill>
                  <a:srgbClr val="242424"/>
                </a:solidFill>
                <a:effectLst/>
                <a:latin typeface="source-serif-pro"/>
              </a:rPr>
              <a:t> of an object or scene. </a:t>
            </a:r>
          </a:p>
        </p:txBody>
      </p:sp>
      <p:pic>
        <p:nvPicPr>
          <p:cNvPr id="6146" name="Picture 2">
            <a:extLst>
              <a:ext uri="{FF2B5EF4-FFF2-40B4-BE49-F238E27FC236}">
                <a16:creationId xmlns:a16="http://schemas.microsoft.com/office/drawing/2014/main" id="{462989BD-AD04-020C-EBBD-6C49F3E200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623" r="22134" b="14565"/>
          <a:stretch/>
        </p:blipFill>
        <p:spPr bwMode="auto">
          <a:xfrm>
            <a:off x="7130375" y="1690688"/>
            <a:ext cx="4328808" cy="3886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768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ED937B-FD5F-6D99-1DB3-59583431E74B}"/>
              </a:ext>
            </a:extLst>
          </p:cNvPr>
          <p:cNvSpPr>
            <a:spLocks noGrp="1"/>
          </p:cNvSpPr>
          <p:nvPr>
            <p:ph type="title"/>
          </p:nvPr>
        </p:nvSpPr>
        <p:spPr>
          <a:xfrm>
            <a:off x="841248" y="256032"/>
            <a:ext cx="10506456" cy="1014984"/>
          </a:xfrm>
        </p:spPr>
        <p:txBody>
          <a:bodyPr anchor="b">
            <a:normAutofit/>
          </a:bodyPr>
          <a:lstStyle/>
          <a:p>
            <a:r>
              <a:rPr lang="en-MY" b="1"/>
              <a:t>3D Data Types</a:t>
            </a:r>
            <a:endParaRPr lang="en-MY" b="1"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1483071-4F9C-7666-2411-32A82F38A58E}"/>
              </a:ext>
            </a:extLst>
          </p:cNvPr>
          <p:cNvGraphicFramePr>
            <a:graphicFrameLocks noGrp="1"/>
          </p:cNvGraphicFramePr>
          <p:nvPr>
            <p:ph idx="1"/>
            <p:extLst>
              <p:ext uri="{D42A27DB-BD31-4B8C-83A1-F6EECF244321}">
                <p14:modId xmlns:p14="http://schemas.microsoft.com/office/powerpoint/2010/main" val="231420965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descr="Intro_3D CloudPoint · 3D Object ...">
            <a:extLst>
              <a:ext uri="{FF2B5EF4-FFF2-40B4-BE49-F238E27FC236}">
                <a16:creationId xmlns:a16="http://schemas.microsoft.com/office/drawing/2014/main" id="{F4AC01BA-92B3-B553-A7C6-68E47453980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78759" b="10056"/>
          <a:stretch/>
        </p:blipFill>
        <p:spPr bwMode="auto">
          <a:xfrm>
            <a:off x="1128409" y="1977429"/>
            <a:ext cx="953310" cy="10965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ntro_3D CloudPoint · 3D Object ...">
            <a:extLst>
              <a:ext uri="{FF2B5EF4-FFF2-40B4-BE49-F238E27FC236}">
                <a16:creationId xmlns:a16="http://schemas.microsoft.com/office/drawing/2014/main" id="{ECFFE831-E2A1-8725-116F-9A47E1E4ECE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7488" r="27045" b="10807"/>
          <a:stretch/>
        </p:blipFill>
        <p:spPr bwMode="auto">
          <a:xfrm>
            <a:off x="1128409" y="5136035"/>
            <a:ext cx="953310" cy="10874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ntro_3D CloudPoint · 3D Object ...">
            <a:extLst>
              <a:ext uri="{FF2B5EF4-FFF2-40B4-BE49-F238E27FC236}">
                <a16:creationId xmlns:a16="http://schemas.microsoft.com/office/drawing/2014/main" id="{3D6411FF-BD0E-B088-D034-21FA36345EA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863" r="53749" b="10807"/>
          <a:stretch/>
        </p:blipFill>
        <p:spPr bwMode="auto">
          <a:xfrm>
            <a:off x="1128409" y="3561306"/>
            <a:ext cx="953310" cy="108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703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45A9-8319-DB90-C3E3-4B88C4519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B4DB3-D850-6750-6864-A39214BF49AE}"/>
              </a:ext>
            </a:extLst>
          </p:cNvPr>
          <p:cNvSpPr>
            <a:spLocks noGrp="1"/>
          </p:cNvSpPr>
          <p:nvPr>
            <p:ph type="title"/>
          </p:nvPr>
        </p:nvSpPr>
        <p:spPr/>
        <p:txBody>
          <a:bodyPr/>
          <a:lstStyle/>
          <a:p>
            <a:r>
              <a:rPr lang="en-MY" b="1" dirty="0"/>
              <a:t>Point Cloud, mesh, volumetric &amp; depth map</a:t>
            </a:r>
          </a:p>
        </p:txBody>
      </p:sp>
      <p:pic>
        <p:nvPicPr>
          <p:cNvPr id="8194" name="Picture 2" descr="Point Cloud Processing with Open3D and Python | Sigmoidal">
            <a:extLst>
              <a:ext uri="{FF2B5EF4-FFF2-40B4-BE49-F238E27FC236}">
                <a16:creationId xmlns:a16="http://schemas.microsoft.com/office/drawing/2014/main" id="{24B3FFD7-4FAB-7AF9-9093-F208BCA63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48826"/>
            <a:ext cx="9753600" cy="477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425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FC4E9-1904-B4D8-55E8-476217F7C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A9DCA-D033-3B6E-DCC5-5E4758967284}"/>
              </a:ext>
            </a:extLst>
          </p:cNvPr>
          <p:cNvSpPr>
            <a:spLocks noGrp="1"/>
          </p:cNvSpPr>
          <p:nvPr>
            <p:ph type="title"/>
          </p:nvPr>
        </p:nvSpPr>
        <p:spPr/>
        <p:txBody>
          <a:bodyPr/>
          <a:lstStyle/>
          <a:p>
            <a:r>
              <a:rPr lang="en-MY" b="1" dirty="0"/>
              <a:t>Point Cloud, mesh, volumetric &amp; depth map</a:t>
            </a:r>
          </a:p>
        </p:txBody>
      </p:sp>
      <p:pic>
        <p:nvPicPr>
          <p:cNvPr id="10242" name="Picture 2">
            <a:extLst>
              <a:ext uri="{FF2B5EF4-FFF2-40B4-BE49-F238E27FC236}">
                <a16:creationId xmlns:a16="http://schemas.microsoft.com/office/drawing/2014/main" id="{96CEC39A-42FC-3A12-851C-62656A2F8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593" y="2234423"/>
            <a:ext cx="10164814" cy="3008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097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B7602-276F-6EE8-9206-5867328F9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8F932-06F1-8F09-896E-E8E1D6CDC08E}"/>
              </a:ext>
            </a:extLst>
          </p:cNvPr>
          <p:cNvSpPr>
            <a:spLocks noGrp="1"/>
          </p:cNvSpPr>
          <p:nvPr>
            <p:ph type="title"/>
          </p:nvPr>
        </p:nvSpPr>
        <p:spPr/>
        <p:txBody>
          <a:bodyPr/>
          <a:lstStyle/>
          <a:p>
            <a:r>
              <a:rPr lang="en-MY" b="1" dirty="0"/>
              <a:t>Key differences of 3D data types</a:t>
            </a:r>
          </a:p>
        </p:txBody>
      </p:sp>
      <p:sp>
        <p:nvSpPr>
          <p:cNvPr id="5" name="Content Placeholder 4">
            <a:extLst>
              <a:ext uri="{FF2B5EF4-FFF2-40B4-BE49-F238E27FC236}">
                <a16:creationId xmlns:a16="http://schemas.microsoft.com/office/drawing/2014/main" id="{7FBFCEA7-8038-66E3-7D4A-E6BE1A031CDC}"/>
              </a:ext>
            </a:extLst>
          </p:cNvPr>
          <p:cNvSpPr>
            <a:spLocks noGrp="1"/>
          </p:cNvSpPr>
          <p:nvPr>
            <p:ph idx="1"/>
          </p:nvPr>
        </p:nvSpPr>
        <p:spPr>
          <a:xfrm>
            <a:off x="838200" y="1616074"/>
            <a:ext cx="10515600" cy="5032375"/>
          </a:xfrm>
        </p:spPr>
        <p:txBody>
          <a:bodyPr>
            <a:normAutofit/>
          </a:bodyPr>
          <a:lstStyle/>
          <a:p>
            <a:pPr algn="l">
              <a:lnSpc>
                <a:spcPts val="2400"/>
              </a:lnSpc>
              <a:buFont typeface="Arial" panose="020B0604020202020204" pitchFamily="34" charset="0"/>
              <a:buChar char="•"/>
            </a:pPr>
            <a:r>
              <a:rPr lang="en-US" sz="2200" b="1" i="0" dirty="0">
                <a:solidFill>
                  <a:srgbClr val="242424"/>
                </a:solidFill>
                <a:effectLst/>
                <a:latin typeface="source-serif-pro"/>
              </a:rPr>
              <a:t>Sparsity/Density:</a:t>
            </a:r>
            <a:r>
              <a:rPr lang="en-US" sz="2200" b="0" i="0" dirty="0">
                <a:solidFill>
                  <a:srgbClr val="242424"/>
                </a:solidFill>
                <a:effectLst/>
                <a:latin typeface="source-serif-pro"/>
              </a:rPr>
              <a:t> Point clouds are sparse, meaning they contain fewer data points compared to meshes and volumetric data. Point clouds are the sparsest, followed by meshes, and volumetric data is the densest.</a:t>
            </a:r>
          </a:p>
          <a:p>
            <a:pPr algn="l">
              <a:lnSpc>
                <a:spcPts val="2400"/>
              </a:lnSpc>
              <a:buFont typeface="Arial" panose="020B0604020202020204" pitchFamily="34" charset="0"/>
              <a:buChar char="•"/>
            </a:pPr>
            <a:r>
              <a:rPr lang="en-US" sz="2200" b="1" i="0" dirty="0">
                <a:solidFill>
                  <a:srgbClr val="242424"/>
                </a:solidFill>
                <a:effectLst/>
                <a:latin typeface="source-serif-pro"/>
              </a:rPr>
              <a:t>Structure:</a:t>
            </a:r>
            <a:r>
              <a:rPr lang="en-US" sz="2200" b="0" i="0" dirty="0">
                <a:solidFill>
                  <a:srgbClr val="242424"/>
                </a:solidFill>
                <a:effectLst/>
                <a:latin typeface="source-serif-pro"/>
              </a:rPr>
              <a:t> Point clouds are unstructured, Meshes have a defined structure with defined relationships between data points and volumetric data are structured and organized in grid-like structure.</a:t>
            </a:r>
          </a:p>
          <a:p>
            <a:pPr algn="l">
              <a:lnSpc>
                <a:spcPts val="2400"/>
              </a:lnSpc>
              <a:buFont typeface="Arial" panose="020B0604020202020204" pitchFamily="34" charset="0"/>
              <a:buChar char="•"/>
            </a:pPr>
            <a:r>
              <a:rPr lang="en-US" sz="2200" b="1" i="0" dirty="0">
                <a:solidFill>
                  <a:srgbClr val="242424"/>
                </a:solidFill>
                <a:effectLst/>
                <a:latin typeface="source-serif-pro"/>
              </a:rPr>
              <a:t>Information captured:</a:t>
            </a:r>
            <a:r>
              <a:rPr lang="en-US" sz="2200" b="0" i="0" dirty="0">
                <a:solidFill>
                  <a:srgbClr val="242424"/>
                </a:solidFill>
                <a:effectLst/>
                <a:latin typeface="source-serif-pro"/>
              </a:rPr>
              <a:t> Point clouds capture basic 3D coordinates, meshes capture surface details, and volumetric data captures both surface and interior details.</a:t>
            </a:r>
          </a:p>
          <a:p>
            <a:pPr algn="l">
              <a:lnSpc>
                <a:spcPts val="2400"/>
              </a:lnSpc>
              <a:buFont typeface="Arial" panose="020B0604020202020204" pitchFamily="34" charset="0"/>
              <a:buChar char="•"/>
            </a:pPr>
            <a:r>
              <a:rPr lang="en-US" sz="2200" b="1" i="0" dirty="0">
                <a:solidFill>
                  <a:srgbClr val="242424"/>
                </a:solidFill>
                <a:effectLst/>
                <a:latin typeface="source-serif-pro"/>
              </a:rPr>
              <a:t>Acquisition methods:</a:t>
            </a:r>
            <a:r>
              <a:rPr lang="en-US" sz="2200" b="0" i="0" dirty="0">
                <a:solidFill>
                  <a:srgbClr val="242424"/>
                </a:solidFill>
                <a:effectLst/>
                <a:latin typeface="source-serif-pro"/>
              </a:rPr>
              <a:t> LiDAR and cameras are commonly used for capturing point clouds, while scanning and modeling software are used for meshes, and CT and MRI scans are used for volumetric data.</a:t>
            </a:r>
          </a:p>
        </p:txBody>
      </p:sp>
    </p:spTree>
    <p:extLst>
      <p:ext uri="{BB962C8B-B14F-4D97-AF65-F5344CB8AC3E}">
        <p14:creationId xmlns:p14="http://schemas.microsoft.com/office/powerpoint/2010/main" val="1701718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9D347-5A6A-0016-0085-0301E7A95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93F7A-EDCA-0F41-7AA2-3CA6F088AABE}"/>
              </a:ext>
            </a:extLst>
          </p:cNvPr>
          <p:cNvSpPr>
            <a:spLocks noGrp="1"/>
          </p:cNvSpPr>
          <p:nvPr>
            <p:ph type="title"/>
          </p:nvPr>
        </p:nvSpPr>
        <p:spPr/>
        <p:txBody>
          <a:bodyPr/>
          <a:lstStyle/>
          <a:p>
            <a:r>
              <a:rPr lang="en-MY" b="1" dirty="0"/>
              <a:t>Advantages VS Disadvantages</a:t>
            </a:r>
          </a:p>
        </p:txBody>
      </p:sp>
      <p:sp>
        <p:nvSpPr>
          <p:cNvPr id="5" name="Content Placeholder 4">
            <a:extLst>
              <a:ext uri="{FF2B5EF4-FFF2-40B4-BE49-F238E27FC236}">
                <a16:creationId xmlns:a16="http://schemas.microsoft.com/office/drawing/2014/main" id="{239311DD-50A6-64E6-E694-6D4F968EA52D}"/>
              </a:ext>
            </a:extLst>
          </p:cNvPr>
          <p:cNvSpPr>
            <a:spLocks noGrp="1"/>
          </p:cNvSpPr>
          <p:nvPr>
            <p:ph idx="1"/>
          </p:nvPr>
        </p:nvSpPr>
        <p:spPr>
          <a:xfrm>
            <a:off x="838200" y="1616074"/>
            <a:ext cx="10515600" cy="5032375"/>
          </a:xfrm>
        </p:spPr>
        <p:txBody>
          <a:bodyPr>
            <a:normAutofit/>
          </a:bodyPr>
          <a:lstStyle/>
          <a:p>
            <a:pPr algn="l">
              <a:lnSpc>
                <a:spcPts val="2400"/>
              </a:lnSpc>
              <a:buFont typeface="Arial" panose="020B0604020202020204" pitchFamily="34" charset="0"/>
              <a:buChar char="•"/>
            </a:pPr>
            <a:r>
              <a:rPr lang="en-US" sz="1800" b="0" i="0" dirty="0">
                <a:solidFill>
                  <a:srgbClr val="242424"/>
                </a:solidFill>
                <a:effectLst/>
                <a:latin typeface="source-serif-pro"/>
              </a:rPr>
              <a:t>In summary, each data type has its strengths and weaknesses. </a:t>
            </a:r>
          </a:p>
          <a:p>
            <a:pPr algn="l">
              <a:lnSpc>
                <a:spcPts val="2400"/>
              </a:lnSpc>
              <a:buFont typeface="Arial" panose="020B0604020202020204" pitchFamily="34" charset="0"/>
              <a:buChar char="•"/>
            </a:pPr>
            <a:r>
              <a:rPr lang="en-US" sz="1800" b="0" i="0" dirty="0">
                <a:solidFill>
                  <a:srgbClr val="242424"/>
                </a:solidFill>
                <a:effectLst/>
                <a:latin typeface="source-serif-pro"/>
              </a:rPr>
              <a:t>The choice of data type depends on the specific requirements of the application and the balance between accuracy, complexity, and resource requirements.</a:t>
            </a:r>
            <a:endParaRPr lang="en-US" sz="2400" b="0" i="0" dirty="0">
              <a:solidFill>
                <a:srgbClr val="242424"/>
              </a:solidFill>
              <a:effectLst/>
              <a:latin typeface="source-serif-pro"/>
            </a:endParaRPr>
          </a:p>
        </p:txBody>
      </p:sp>
      <p:pic>
        <p:nvPicPr>
          <p:cNvPr id="11266" name="Picture 2">
            <a:extLst>
              <a:ext uri="{FF2B5EF4-FFF2-40B4-BE49-F238E27FC236}">
                <a16:creationId xmlns:a16="http://schemas.microsoft.com/office/drawing/2014/main" id="{6E7DD93F-6185-4CA0-33BE-943081122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749" y="2836288"/>
            <a:ext cx="9247149" cy="3656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440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369D-066E-761C-7B45-36B67532D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D9796-EFA4-FC60-AEAD-0CE1D60AD83A}"/>
              </a:ext>
            </a:extLst>
          </p:cNvPr>
          <p:cNvSpPr>
            <a:spLocks noGrp="1"/>
          </p:cNvSpPr>
          <p:nvPr>
            <p:ph type="title"/>
          </p:nvPr>
        </p:nvSpPr>
        <p:spPr/>
        <p:txBody>
          <a:bodyPr/>
          <a:lstStyle/>
          <a:p>
            <a:r>
              <a:rPr lang="en-MY" dirty="0"/>
              <a:t>Sensors for capturing 3D data</a:t>
            </a:r>
          </a:p>
        </p:txBody>
      </p:sp>
      <p:sp>
        <p:nvSpPr>
          <p:cNvPr id="4" name="Text Placeholder 3">
            <a:extLst>
              <a:ext uri="{FF2B5EF4-FFF2-40B4-BE49-F238E27FC236}">
                <a16:creationId xmlns:a16="http://schemas.microsoft.com/office/drawing/2014/main" id="{F4763F1D-C043-5CB0-0C5E-23E1CD825658}"/>
              </a:ext>
            </a:extLst>
          </p:cNvPr>
          <p:cNvSpPr>
            <a:spLocks noGrp="1"/>
          </p:cNvSpPr>
          <p:nvPr>
            <p:ph type="body" idx="1"/>
          </p:nvPr>
        </p:nvSpPr>
        <p:spPr>
          <a:xfrm>
            <a:off x="8157322" y="1837507"/>
            <a:ext cx="3533775" cy="823912"/>
          </a:xfrm>
        </p:spPr>
        <p:txBody>
          <a:bodyPr anchor="ctr"/>
          <a:lstStyle/>
          <a:p>
            <a:pPr algn="ctr"/>
            <a:r>
              <a:rPr lang="en-MY" dirty="0"/>
              <a:t>LIDAR</a:t>
            </a:r>
          </a:p>
        </p:txBody>
      </p:sp>
      <p:pic>
        <p:nvPicPr>
          <p:cNvPr id="13316" name="Picture 4" descr="RGB-D sensor Kinect (left): an infrared ...">
            <a:extLst>
              <a:ext uri="{FF2B5EF4-FFF2-40B4-BE49-F238E27FC236}">
                <a16:creationId xmlns:a16="http://schemas.microsoft.com/office/drawing/2014/main" id="{27D0A6A0-5F53-1A2F-2BA7-BF5678FE7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1666" y="3608538"/>
            <a:ext cx="3533775"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Velodyne LiDAR Announces Puck Hi-Res ...">
            <a:extLst>
              <a:ext uri="{FF2B5EF4-FFF2-40B4-BE49-F238E27FC236}">
                <a16:creationId xmlns:a16="http://schemas.microsoft.com/office/drawing/2014/main" id="{2EBE6F48-534F-A051-3C63-7FF583301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2648" y="302890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Stereolabs ZED 2i Stereo Camera (With 1 ...">
            <a:extLst>
              <a:ext uri="{FF2B5EF4-FFF2-40B4-BE49-F238E27FC236}">
                <a16:creationId xmlns:a16="http://schemas.microsoft.com/office/drawing/2014/main" id="{87CDC550-6B41-48BC-C58B-5CD87F373A3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839788" y="3790799"/>
            <a:ext cx="3533775" cy="11131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3">
            <a:extLst>
              <a:ext uri="{FF2B5EF4-FFF2-40B4-BE49-F238E27FC236}">
                <a16:creationId xmlns:a16="http://schemas.microsoft.com/office/drawing/2014/main" id="{6EE822A2-389D-048F-50BA-A099414589F6}"/>
              </a:ext>
            </a:extLst>
          </p:cNvPr>
          <p:cNvSpPr txBox="1">
            <a:spLocks/>
          </p:cNvSpPr>
          <p:nvPr/>
        </p:nvSpPr>
        <p:spPr>
          <a:xfrm>
            <a:off x="4472990" y="1782938"/>
            <a:ext cx="3533775" cy="823912"/>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MY" dirty="0"/>
              <a:t>RGB-D</a:t>
            </a:r>
          </a:p>
        </p:txBody>
      </p:sp>
      <p:sp>
        <p:nvSpPr>
          <p:cNvPr id="12" name="Text Placeholder 3">
            <a:extLst>
              <a:ext uri="{FF2B5EF4-FFF2-40B4-BE49-F238E27FC236}">
                <a16:creationId xmlns:a16="http://schemas.microsoft.com/office/drawing/2014/main" id="{E6D87BF8-55C2-DA69-8D67-53640D498B1B}"/>
              </a:ext>
            </a:extLst>
          </p:cNvPr>
          <p:cNvSpPr txBox="1">
            <a:spLocks/>
          </p:cNvSpPr>
          <p:nvPr/>
        </p:nvSpPr>
        <p:spPr>
          <a:xfrm>
            <a:off x="992188" y="1833563"/>
            <a:ext cx="3533775" cy="823912"/>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MY"/>
              <a:t>Stereo</a:t>
            </a:r>
            <a:endParaRPr lang="en-MY" dirty="0"/>
          </a:p>
        </p:txBody>
      </p:sp>
    </p:spTree>
    <p:extLst>
      <p:ext uri="{BB962C8B-B14F-4D97-AF65-F5344CB8AC3E}">
        <p14:creationId xmlns:p14="http://schemas.microsoft.com/office/powerpoint/2010/main" val="1822221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C091-81B7-581A-79C3-64BA9F81BC90}"/>
              </a:ext>
            </a:extLst>
          </p:cNvPr>
          <p:cNvSpPr>
            <a:spLocks noGrp="1"/>
          </p:cNvSpPr>
          <p:nvPr>
            <p:ph type="title"/>
          </p:nvPr>
        </p:nvSpPr>
        <p:spPr/>
        <p:txBody>
          <a:bodyPr/>
          <a:lstStyle/>
          <a:p>
            <a:r>
              <a:rPr lang="en-MY" dirty="0"/>
              <a:t>Sensors for capturing 3D data</a:t>
            </a:r>
          </a:p>
        </p:txBody>
      </p:sp>
      <p:sp>
        <p:nvSpPr>
          <p:cNvPr id="3" name="Content Placeholder 2">
            <a:extLst>
              <a:ext uri="{FF2B5EF4-FFF2-40B4-BE49-F238E27FC236}">
                <a16:creationId xmlns:a16="http://schemas.microsoft.com/office/drawing/2014/main" id="{E39C9701-E794-3BDF-B883-77FEA8D7B15F}"/>
              </a:ext>
            </a:extLst>
          </p:cNvPr>
          <p:cNvSpPr>
            <a:spLocks noGrp="1"/>
          </p:cNvSpPr>
          <p:nvPr>
            <p:ph idx="1"/>
          </p:nvPr>
        </p:nvSpPr>
        <p:spPr>
          <a:xfrm>
            <a:off x="838199" y="1825625"/>
            <a:ext cx="10353675" cy="4351338"/>
          </a:xfrm>
        </p:spPr>
        <p:txBody>
          <a:bodyPr>
            <a:normAutofit/>
          </a:bodyPr>
          <a:lstStyle/>
          <a:p>
            <a:pPr>
              <a:lnSpc>
                <a:spcPts val="2400"/>
              </a:lnSpc>
            </a:pPr>
            <a:r>
              <a:rPr lang="en-US" b="1" dirty="0"/>
              <a:t>Stereo Cameras: </a:t>
            </a:r>
            <a:r>
              <a:rPr lang="en-US" dirty="0"/>
              <a:t>Utilize two cameras which capture images from two slightly offset lenses and its disparities. The disparities between corresponding points in the images are used to calculate depth and generate point clouds.</a:t>
            </a:r>
          </a:p>
          <a:p>
            <a:pPr>
              <a:lnSpc>
                <a:spcPts val="2400"/>
              </a:lnSpc>
            </a:pPr>
            <a:r>
              <a:rPr lang="en-US" b="1" dirty="0"/>
              <a:t>RGB-D Cameras: </a:t>
            </a:r>
            <a:r>
              <a:rPr lang="en-US" dirty="0"/>
              <a:t>These cameras combine a regular RGB camera with an infrared depth sensor. They capture both color (RGB) and depth (D) information for each pixel and creating a synchronized point cloud.</a:t>
            </a:r>
          </a:p>
          <a:p>
            <a:pPr>
              <a:lnSpc>
                <a:spcPts val="2400"/>
              </a:lnSpc>
            </a:pPr>
            <a:r>
              <a:rPr lang="en-US" b="1" dirty="0"/>
              <a:t>LiDAR (Light Detection and Ranging)</a:t>
            </a:r>
            <a:r>
              <a:rPr lang="en-US" dirty="0"/>
              <a:t>: LiDAR sensors emit laser beams and measure their reflection time to calculate distances. This enables the creation of accurate and dense point clouds with depth </a:t>
            </a:r>
            <a:r>
              <a:rPr lang="en-US" dirty="0" err="1"/>
              <a:t>information.o</a:t>
            </a:r>
            <a:r>
              <a:rPr lang="en-US" dirty="0"/>
              <a:t> or more known points, the object's 3D position can be derived using geometric principles.</a:t>
            </a:r>
          </a:p>
          <a:p>
            <a:pPr>
              <a:lnSpc>
                <a:spcPts val="2400"/>
              </a:lnSpc>
            </a:pPr>
            <a:endParaRPr lang="en-US" dirty="0"/>
          </a:p>
          <a:p>
            <a:pPr>
              <a:lnSpc>
                <a:spcPts val="2400"/>
              </a:lnSpc>
            </a:pPr>
            <a:endParaRPr lang="en-MY" dirty="0"/>
          </a:p>
        </p:txBody>
      </p:sp>
    </p:spTree>
    <p:extLst>
      <p:ext uri="{BB962C8B-B14F-4D97-AF65-F5344CB8AC3E}">
        <p14:creationId xmlns:p14="http://schemas.microsoft.com/office/powerpoint/2010/main" val="2434741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0CEC-D193-C8B2-E545-57541EFF2FD2}"/>
              </a:ext>
            </a:extLst>
          </p:cNvPr>
          <p:cNvSpPr>
            <a:spLocks noGrp="1"/>
          </p:cNvSpPr>
          <p:nvPr>
            <p:ph type="title"/>
          </p:nvPr>
        </p:nvSpPr>
        <p:spPr/>
        <p:txBody>
          <a:bodyPr/>
          <a:lstStyle/>
          <a:p>
            <a:pPr algn="l">
              <a:lnSpc>
                <a:spcPts val="2250"/>
              </a:lnSpc>
            </a:pPr>
            <a:r>
              <a:rPr lang="en-US" b="1" i="0" dirty="0">
                <a:solidFill>
                  <a:srgbClr val="242424"/>
                </a:solidFill>
                <a:effectLst/>
                <a:latin typeface="sohne"/>
              </a:rPr>
              <a:t>How Points are Organized in 3D Space</a:t>
            </a:r>
          </a:p>
        </p:txBody>
      </p:sp>
      <p:sp>
        <p:nvSpPr>
          <p:cNvPr id="3" name="Content Placeholder 2">
            <a:extLst>
              <a:ext uri="{FF2B5EF4-FFF2-40B4-BE49-F238E27FC236}">
                <a16:creationId xmlns:a16="http://schemas.microsoft.com/office/drawing/2014/main" id="{FA6B14C8-F716-0455-7D7E-021D4F711F1A}"/>
              </a:ext>
            </a:extLst>
          </p:cNvPr>
          <p:cNvSpPr>
            <a:spLocks noGrp="1"/>
          </p:cNvSpPr>
          <p:nvPr>
            <p:ph idx="1"/>
          </p:nvPr>
        </p:nvSpPr>
        <p:spPr>
          <a:xfrm>
            <a:off x="838200" y="1511300"/>
            <a:ext cx="4381500" cy="4351338"/>
          </a:xfrm>
        </p:spPr>
        <p:txBody>
          <a:bodyPr>
            <a:normAutofit/>
          </a:bodyPr>
          <a:lstStyle/>
          <a:p>
            <a:r>
              <a:rPr lang="en-US" sz="2400" b="0" i="0" dirty="0">
                <a:solidFill>
                  <a:srgbClr val="242424"/>
                </a:solidFill>
                <a:effectLst/>
                <a:latin typeface="source-serif-pro"/>
              </a:rPr>
              <a:t>In a typical RGB-D based 3D reconstruction pipeline, the point cloud data is usually arranged in the ply file in a </a:t>
            </a:r>
            <a:r>
              <a:rPr lang="en-US" sz="2400" b="1" i="0" dirty="0">
                <a:solidFill>
                  <a:srgbClr val="242424"/>
                </a:solidFill>
                <a:effectLst/>
                <a:latin typeface="source-serif-pro"/>
              </a:rPr>
              <a:t>row-major order</a:t>
            </a:r>
            <a:r>
              <a:rPr lang="en-US" sz="2400" b="0" i="0" dirty="0">
                <a:solidFill>
                  <a:srgbClr val="242424"/>
                </a:solidFill>
                <a:effectLst/>
                <a:latin typeface="source-serif-pro"/>
              </a:rPr>
              <a:t>. </a:t>
            </a:r>
          </a:p>
          <a:p>
            <a:r>
              <a:rPr lang="en-US" sz="2400" b="0" i="0" dirty="0">
                <a:solidFill>
                  <a:srgbClr val="242424"/>
                </a:solidFill>
                <a:effectLst/>
                <a:latin typeface="source-serif-pro"/>
              </a:rPr>
              <a:t>This means that the points are listed row by row, where each row corresponds to a scanline of the depth image. The points within a scanline are listed in the </a:t>
            </a:r>
            <a:r>
              <a:rPr lang="en-US" sz="2400" b="1" i="0" dirty="0">
                <a:solidFill>
                  <a:srgbClr val="242424"/>
                </a:solidFill>
                <a:effectLst/>
                <a:latin typeface="source-serif-pro"/>
              </a:rPr>
              <a:t>order of increasing horizontal pixel positions</a:t>
            </a:r>
            <a:r>
              <a:rPr lang="en-US" sz="2400" b="0" i="0" dirty="0">
                <a:solidFill>
                  <a:srgbClr val="242424"/>
                </a:solidFill>
                <a:effectLst/>
                <a:latin typeface="source-serif-pro"/>
              </a:rPr>
              <a:t>.</a:t>
            </a:r>
            <a:endParaRPr lang="en-MY" sz="2400" dirty="0"/>
          </a:p>
        </p:txBody>
      </p:sp>
      <p:graphicFrame>
        <p:nvGraphicFramePr>
          <p:cNvPr id="4" name="Table 3">
            <a:extLst>
              <a:ext uri="{FF2B5EF4-FFF2-40B4-BE49-F238E27FC236}">
                <a16:creationId xmlns:a16="http://schemas.microsoft.com/office/drawing/2014/main" id="{1C53E9CC-BA6F-D253-9F8E-0EA6A27459D3}"/>
              </a:ext>
            </a:extLst>
          </p:cNvPr>
          <p:cNvGraphicFramePr>
            <a:graphicFrameLocks noGrp="1"/>
          </p:cNvGraphicFramePr>
          <p:nvPr>
            <p:extLst>
              <p:ext uri="{D42A27DB-BD31-4B8C-83A1-F6EECF244321}">
                <p14:modId xmlns:p14="http://schemas.microsoft.com/office/powerpoint/2010/main" val="2465095060"/>
              </p:ext>
            </p:extLst>
          </p:nvPr>
        </p:nvGraphicFramePr>
        <p:xfrm>
          <a:off x="5822951" y="2510395"/>
          <a:ext cx="2616200" cy="2059780"/>
        </p:xfrm>
        <a:graphic>
          <a:graphicData uri="http://schemas.openxmlformats.org/drawingml/2006/table">
            <a:tbl>
              <a:tblPr firstRow="1" bandRow="1">
                <a:tableStyleId>{5940675A-B579-460E-94D1-54222C63F5DA}</a:tableStyleId>
              </a:tblPr>
              <a:tblGrid>
                <a:gridCol w="523240">
                  <a:extLst>
                    <a:ext uri="{9D8B030D-6E8A-4147-A177-3AD203B41FA5}">
                      <a16:colId xmlns:a16="http://schemas.microsoft.com/office/drawing/2014/main" val="1061686322"/>
                    </a:ext>
                  </a:extLst>
                </a:gridCol>
                <a:gridCol w="523240">
                  <a:extLst>
                    <a:ext uri="{9D8B030D-6E8A-4147-A177-3AD203B41FA5}">
                      <a16:colId xmlns:a16="http://schemas.microsoft.com/office/drawing/2014/main" val="2849801397"/>
                    </a:ext>
                  </a:extLst>
                </a:gridCol>
                <a:gridCol w="523240">
                  <a:extLst>
                    <a:ext uri="{9D8B030D-6E8A-4147-A177-3AD203B41FA5}">
                      <a16:colId xmlns:a16="http://schemas.microsoft.com/office/drawing/2014/main" val="3391167521"/>
                    </a:ext>
                  </a:extLst>
                </a:gridCol>
                <a:gridCol w="523240">
                  <a:extLst>
                    <a:ext uri="{9D8B030D-6E8A-4147-A177-3AD203B41FA5}">
                      <a16:colId xmlns:a16="http://schemas.microsoft.com/office/drawing/2014/main" val="1601136169"/>
                    </a:ext>
                  </a:extLst>
                </a:gridCol>
                <a:gridCol w="523240">
                  <a:extLst>
                    <a:ext uri="{9D8B030D-6E8A-4147-A177-3AD203B41FA5}">
                      <a16:colId xmlns:a16="http://schemas.microsoft.com/office/drawing/2014/main" val="4002888106"/>
                    </a:ext>
                  </a:extLst>
                </a:gridCol>
              </a:tblGrid>
              <a:tr h="411956">
                <a:tc>
                  <a:txBody>
                    <a:bodyPr/>
                    <a:lstStyle/>
                    <a:p>
                      <a:pPr algn="ctr"/>
                      <a:r>
                        <a:rPr lang="en-MY" dirty="0"/>
                        <a:t>10</a:t>
                      </a:r>
                    </a:p>
                  </a:txBody>
                  <a:tcPr anchor="ctr"/>
                </a:tc>
                <a:tc>
                  <a:txBody>
                    <a:bodyPr/>
                    <a:lstStyle/>
                    <a:p>
                      <a:pPr algn="ctr"/>
                      <a:r>
                        <a:rPr lang="en-MY" dirty="0"/>
                        <a:t>20</a:t>
                      </a:r>
                    </a:p>
                  </a:txBody>
                  <a:tcPr anchor="ctr"/>
                </a:tc>
                <a:tc>
                  <a:txBody>
                    <a:bodyPr/>
                    <a:lstStyle/>
                    <a:p>
                      <a:pPr algn="ctr"/>
                      <a:r>
                        <a:rPr lang="en-MY" dirty="0"/>
                        <a:t>30</a:t>
                      </a:r>
                    </a:p>
                  </a:txBody>
                  <a:tcPr anchor="ctr"/>
                </a:tc>
                <a:tc>
                  <a:txBody>
                    <a:bodyPr/>
                    <a:lstStyle/>
                    <a:p>
                      <a:pPr algn="ctr"/>
                      <a:r>
                        <a:rPr lang="en-MY" dirty="0"/>
                        <a:t>40</a:t>
                      </a:r>
                    </a:p>
                  </a:txBody>
                  <a:tcPr anchor="ctr"/>
                </a:tc>
                <a:tc>
                  <a:txBody>
                    <a:bodyPr/>
                    <a:lstStyle/>
                    <a:p>
                      <a:pPr algn="ctr"/>
                      <a:r>
                        <a:rPr lang="en-MY" dirty="0"/>
                        <a:t>50</a:t>
                      </a:r>
                    </a:p>
                  </a:txBody>
                  <a:tcPr anchor="ctr"/>
                </a:tc>
                <a:extLst>
                  <a:ext uri="{0D108BD9-81ED-4DB2-BD59-A6C34878D82A}">
                    <a16:rowId xmlns:a16="http://schemas.microsoft.com/office/drawing/2014/main" val="1782989608"/>
                  </a:ext>
                </a:extLst>
              </a:tr>
              <a:tr h="411956">
                <a:tc>
                  <a:txBody>
                    <a:bodyPr/>
                    <a:lstStyle/>
                    <a:p>
                      <a:pPr algn="ctr"/>
                      <a:r>
                        <a:rPr lang="en-MY" dirty="0"/>
                        <a:t>26</a:t>
                      </a:r>
                    </a:p>
                  </a:txBody>
                  <a:tcPr anchor="ctr"/>
                </a:tc>
                <a:tc>
                  <a:txBody>
                    <a:bodyPr/>
                    <a:lstStyle/>
                    <a:p>
                      <a:pPr algn="ctr"/>
                      <a:r>
                        <a:rPr lang="en-MY" dirty="0"/>
                        <a:t>27</a:t>
                      </a:r>
                    </a:p>
                  </a:txBody>
                  <a:tcPr anchor="ctr"/>
                </a:tc>
                <a:tc>
                  <a:txBody>
                    <a:bodyPr/>
                    <a:lstStyle/>
                    <a:p>
                      <a:pPr algn="ctr"/>
                      <a:r>
                        <a:rPr lang="en-MY" dirty="0"/>
                        <a:t>28</a:t>
                      </a:r>
                    </a:p>
                  </a:txBody>
                  <a:tcPr anchor="ctr"/>
                </a:tc>
                <a:tc>
                  <a:txBody>
                    <a:bodyPr/>
                    <a:lstStyle/>
                    <a:p>
                      <a:pPr algn="ctr"/>
                      <a:r>
                        <a:rPr lang="en-MY" dirty="0"/>
                        <a:t>29</a:t>
                      </a:r>
                    </a:p>
                  </a:txBody>
                  <a:tcPr anchor="ctr"/>
                </a:tc>
                <a:tc>
                  <a:txBody>
                    <a:bodyPr/>
                    <a:lstStyle/>
                    <a:p>
                      <a:pPr algn="ctr"/>
                      <a:r>
                        <a:rPr lang="en-MY" dirty="0"/>
                        <a:t>35</a:t>
                      </a:r>
                    </a:p>
                  </a:txBody>
                  <a:tcPr anchor="ctr"/>
                </a:tc>
                <a:extLst>
                  <a:ext uri="{0D108BD9-81ED-4DB2-BD59-A6C34878D82A}">
                    <a16:rowId xmlns:a16="http://schemas.microsoft.com/office/drawing/2014/main" val="3531168561"/>
                  </a:ext>
                </a:extLst>
              </a:tr>
              <a:tr h="411956">
                <a:tc>
                  <a:txBody>
                    <a:bodyPr/>
                    <a:lstStyle/>
                    <a:p>
                      <a:pPr algn="ctr"/>
                      <a:r>
                        <a:rPr lang="en-MY" dirty="0"/>
                        <a:t>11</a:t>
                      </a:r>
                    </a:p>
                  </a:txBody>
                  <a:tcPr anchor="ctr"/>
                </a:tc>
                <a:tc>
                  <a:txBody>
                    <a:bodyPr/>
                    <a:lstStyle/>
                    <a:p>
                      <a:pPr algn="ctr"/>
                      <a:r>
                        <a:rPr lang="en-MY" dirty="0"/>
                        <a:t>12</a:t>
                      </a:r>
                    </a:p>
                  </a:txBody>
                  <a:tcPr anchor="ctr"/>
                </a:tc>
                <a:tc>
                  <a:txBody>
                    <a:bodyPr/>
                    <a:lstStyle/>
                    <a:p>
                      <a:pPr algn="ctr"/>
                      <a:r>
                        <a:rPr lang="en-MY" dirty="0"/>
                        <a:t>13</a:t>
                      </a:r>
                    </a:p>
                  </a:txBody>
                  <a:tcPr anchor="ctr"/>
                </a:tc>
                <a:tc>
                  <a:txBody>
                    <a:bodyPr/>
                    <a:lstStyle/>
                    <a:p>
                      <a:pPr algn="ctr"/>
                      <a:r>
                        <a:rPr lang="en-MY" dirty="0"/>
                        <a:t>14</a:t>
                      </a:r>
                    </a:p>
                  </a:txBody>
                  <a:tcPr anchor="ctr"/>
                </a:tc>
                <a:tc>
                  <a:txBody>
                    <a:bodyPr/>
                    <a:lstStyle/>
                    <a:p>
                      <a:pPr algn="ctr"/>
                      <a:r>
                        <a:rPr lang="en-MY" dirty="0"/>
                        <a:t>15</a:t>
                      </a:r>
                    </a:p>
                  </a:txBody>
                  <a:tcPr anchor="ctr"/>
                </a:tc>
                <a:extLst>
                  <a:ext uri="{0D108BD9-81ED-4DB2-BD59-A6C34878D82A}">
                    <a16:rowId xmlns:a16="http://schemas.microsoft.com/office/drawing/2014/main" val="1579838426"/>
                  </a:ext>
                </a:extLst>
              </a:tr>
              <a:tr h="411956">
                <a:tc>
                  <a:txBody>
                    <a:bodyPr/>
                    <a:lstStyle/>
                    <a:p>
                      <a:pPr algn="ctr"/>
                      <a:r>
                        <a:rPr lang="en-MY" dirty="0"/>
                        <a:t>16</a:t>
                      </a:r>
                    </a:p>
                  </a:txBody>
                  <a:tcPr anchor="ctr"/>
                </a:tc>
                <a:tc>
                  <a:txBody>
                    <a:bodyPr/>
                    <a:lstStyle/>
                    <a:p>
                      <a:pPr algn="ctr"/>
                      <a:r>
                        <a:rPr lang="en-MY" dirty="0"/>
                        <a:t>17</a:t>
                      </a:r>
                    </a:p>
                  </a:txBody>
                  <a:tcPr anchor="ctr"/>
                </a:tc>
                <a:tc>
                  <a:txBody>
                    <a:bodyPr/>
                    <a:lstStyle/>
                    <a:p>
                      <a:pPr algn="ctr"/>
                      <a:r>
                        <a:rPr lang="en-MY" dirty="0"/>
                        <a:t>18</a:t>
                      </a:r>
                    </a:p>
                  </a:txBody>
                  <a:tcPr anchor="ctr"/>
                </a:tc>
                <a:tc>
                  <a:txBody>
                    <a:bodyPr/>
                    <a:lstStyle/>
                    <a:p>
                      <a:pPr algn="ctr"/>
                      <a:r>
                        <a:rPr lang="en-MY" dirty="0"/>
                        <a:t>19</a:t>
                      </a:r>
                    </a:p>
                  </a:txBody>
                  <a:tcPr anchor="ctr"/>
                </a:tc>
                <a:tc>
                  <a:txBody>
                    <a:bodyPr/>
                    <a:lstStyle/>
                    <a:p>
                      <a:pPr algn="ctr"/>
                      <a:r>
                        <a:rPr lang="en-MY" dirty="0"/>
                        <a:t>20</a:t>
                      </a:r>
                    </a:p>
                  </a:txBody>
                  <a:tcPr anchor="ctr"/>
                </a:tc>
                <a:extLst>
                  <a:ext uri="{0D108BD9-81ED-4DB2-BD59-A6C34878D82A}">
                    <a16:rowId xmlns:a16="http://schemas.microsoft.com/office/drawing/2014/main" val="963246917"/>
                  </a:ext>
                </a:extLst>
              </a:tr>
              <a:tr h="411956">
                <a:tc>
                  <a:txBody>
                    <a:bodyPr/>
                    <a:lstStyle/>
                    <a:p>
                      <a:pPr algn="ctr"/>
                      <a:r>
                        <a:rPr lang="en-MY" dirty="0"/>
                        <a:t>21</a:t>
                      </a:r>
                    </a:p>
                  </a:txBody>
                  <a:tcPr anchor="ctr"/>
                </a:tc>
                <a:tc>
                  <a:txBody>
                    <a:bodyPr/>
                    <a:lstStyle/>
                    <a:p>
                      <a:pPr algn="ctr"/>
                      <a:r>
                        <a:rPr lang="en-MY" dirty="0"/>
                        <a:t>22</a:t>
                      </a:r>
                    </a:p>
                  </a:txBody>
                  <a:tcPr anchor="ctr"/>
                </a:tc>
                <a:tc>
                  <a:txBody>
                    <a:bodyPr/>
                    <a:lstStyle/>
                    <a:p>
                      <a:pPr algn="ctr"/>
                      <a:r>
                        <a:rPr lang="en-MY" dirty="0"/>
                        <a:t>23</a:t>
                      </a:r>
                    </a:p>
                  </a:txBody>
                  <a:tcPr anchor="ctr"/>
                </a:tc>
                <a:tc>
                  <a:txBody>
                    <a:bodyPr/>
                    <a:lstStyle/>
                    <a:p>
                      <a:pPr algn="ctr"/>
                      <a:r>
                        <a:rPr lang="en-MY" dirty="0"/>
                        <a:t>24</a:t>
                      </a:r>
                    </a:p>
                  </a:txBody>
                  <a:tcPr anchor="ctr"/>
                </a:tc>
                <a:tc>
                  <a:txBody>
                    <a:bodyPr/>
                    <a:lstStyle/>
                    <a:p>
                      <a:pPr algn="ctr"/>
                      <a:r>
                        <a:rPr lang="en-MY" dirty="0"/>
                        <a:t>25</a:t>
                      </a:r>
                    </a:p>
                  </a:txBody>
                  <a:tcPr anchor="ctr"/>
                </a:tc>
                <a:extLst>
                  <a:ext uri="{0D108BD9-81ED-4DB2-BD59-A6C34878D82A}">
                    <a16:rowId xmlns:a16="http://schemas.microsoft.com/office/drawing/2014/main" val="693296432"/>
                  </a:ext>
                </a:extLst>
              </a:tr>
            </a:tbl>
          </a:graphicData>
        </a:graphic>
      </p:graphicFrame>
      <p:sp>
        <p:nvSpPr>
          <p:cNvPr id="5" name="TextBox 4">
            <a:extLst>
              <a:ext uri="{FF2B5EF4-FFF2-40B4-BE49-F238E27FC236}">
                <a16:creationId xmlns:a16="http://schemas.microsoft.com/office/drawing/2014/main" id="{E2A697D8-D0DE-7816-BF21-A2F428773EF5}"/>
              </a:ext>
            </a:extLst>
          </p:cNvPr>
          <p:cNvSpPr txBox="1"/>
          <p:nvPr/>
        </p:nvSpPr>
        <p:spPr>
          <a:xfrm>
            <a:off x="6215745" y="4906250"/>
            <a:ext cx="2107052" cy="369332"/>
          </a:xfrm>
          <a:prstGeom prst="rect">
            <a:avLst/>
          </a:prstGeom>
          <a:noFill/>
        </p:spPr>
        <p:txBody>
          <a:bodyPr wrap="none" rtlCol="0">
            <a:spAutoFit/>
          </a:bodyPr>
          <a:lstStyle/>
          <a:p>
            <a:r>
              <a:rPr lang="en-MY" b="1" dirty="0"/>
              <a:t>PNG- Depth image</a:t>
            </a:r>
          </a:p>
        </p:txBody>
      </p:sp>
      <p:sp>
        <p:nvSpPr>
          <p:cNvPr id="6" name="Content Placeholder 2">
            <a:extLst>
              <a:ext uri="{FF2B5EF4-FFF2-40B4-BE49-F238E27FC236}">
                <a16:creationId xmlns:a16="http://schemas.microsoft.com/office/drawing/2014/main" id="{813096F5-716E-87C9-DAA0-3E9770194497}"/>
              </a:ext>
            </a:extLst>
          </p:cNvPr>
          <p:cNvSpPr txBox="1">
            <a:spLocks/>
          </p:cNvSpPr>
          <p:nvPr/>
        </p:nvSpPr>
        <p:spPr>
          <a:xfrm>
            <a:off x="9392781" y="1364616"/>
            <a:ext cx="15107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ts val="2400"/>
              </a:lnSpc>
            </a:pPr>
            <a:r>
              <a:rPr lang="en-MY" sz="1600" b="0" i="0" dirty="0">
                <a:solidFill>
                  <a:srgbClr val="242424"/>
                </a:solidFill>
                <a:effectLst/>
                <a:latin typeface="source-serif-pro"/>
              </a:rPr>
              <a:t>(1, 1, 10)</a:t>
            </a:r>
          </a:p>
          <a:p>
            <a:pPr algn="l">
              <a:lnSpc>
                <a:spcPts val="2400"/>
              </a:lnSpc>
            </a:pPr>
            <a:r>
              <a:rPr lang="en-MY" sz="1600" b="0" i="0" dirty="0">
                <a:solidFill>
                  <a:srgbClr val="242424"/>
                </a:solidFill>
                <a:effectLst/>
                <a:latin typeface="source-serif-pro"/>
              </a:rPr>
              <a:t>(2, 1, 20)</a:t>
            </a:r>
          </a:p>
          <a:p>
            <a:pPr algn="l">
              <a:lnSpc>
                <a:spcPts val="2400"/>
              </a:lnSpc>
            </a:pPr>
            <a:r>
              <a:rPr lang="en-MY" sz="1600" b="0" i="0" dirty="0">
                <a:solidFill>
                  <a:srgbClr val="242424"/>
                </a:solidFill>
                <a:effectLst/>
                <a:latin typeface="source-serif-pro"/>
              </a:rPr>
              <a:t>(3, 1, 30)</a:t>
            </a:r>
          </a:p>
          <a:p>
            <a:pPr algn="l">
              <a:lnSpc>
                <a:spcPts val="2400"/>
              </a:lnSpc>
            </a:pPr>
            <a:r>
              <a:rPr lang="en-MY" sz="1600" b="0" i="0" dirty="0">
                <a:solidFill>
                  <a:srgbClr val="242424"/>
                </a:solidFill>
                <a:effectLst/>
                <a:latin typeface="source-serif-pro"/>
              </a:rPr>
              <a:t>(4, 1, 40)</a:t>
            </a:r>
          </a:p>
          <a:p>
            <a:pPr algn="l">
              <a:lnSpc>
                <a:spcPts val="2400"/>
              </a:lnSpc>
            </a:pPr>
            <a:r>
              <a:rPr lang="en-MY" sz="1600" b="0" i="0" dirty="0">
                <a:solidFill>
                  <a:srgbClr val="242424"/>
                </a:solidFill>
                <a:effectLst/>
                <a:latin typeface="source-serif-pro"/>
              </a:rPr>
              <a:t>(5, 1, 50)</a:t>
            </a:r>
          </a:p>
          <a:p>
            <a:pPr algn="l">
              <a:lnSpc>
                <a:spcPts val="2400"/>
              </a:lnSpc>
            </a:pPr>
            <a:r>
              <a:rPr lang="en-MY" sz="1600" b="1" i="0" dirty="0">
                <a:solidFill>
                  <a:srgbClr val="242424"/>
                </a:solidFill>
                <a:effectLst/>
                <a:latin typeface="source-serif-pro"/>
              </a:rPr>
              <a:t>(1, 2, 26)</a:t>
            </a:r>
          </a:p>
          <a:p>
            <a:pPr algn="l">
              <a:lnSpc>
                <a:spcPts val="2400"/>
              </a:lnSpc>
            </a:pPr>
            <a:r>
              <a:rPr lang="en-MY" sz="1600" b="0" i="0" dirty="0">
                <a:solidFill>
                  <a:srgbClr val="242424"/>
                </a:solidFill>
                <a:effectLst/>
                <a:latin typeface="source-serif-pro"/>
              </a:rPr>
              <a:t>(2, 2, 27)</a:t>
            </a:r>
          </a:p>
          <a:p>
            <a:pPr algn="l">
              <a:lnSpc>
                <a:spcPts val="2400"/>
              </a:lnSpc>
            </a:pPr>
            <a:r>
              <a:rPr lang="en-MY" sz="1600" b="0" i="0" dirty="0">
                <a:solidFill>
                  <a:srgbClr val="242424"/>
                </a:solidFill>
                <a:effectLst/>
                <a:latin typeface="source-serif-pro"/>
              </a:rPr>
              <a:t>(3, 2, 28)</a:t>
            </a:r>
          </a:p>
          <a:p>
            <a:pPr algn="l">
              <a:lnSpc>
                <a:spcPts val="2400"/>
              </a:lnSpc>
            </a:pPr>
            <a:r>
              <a:rPr lang="en-MY" sz="1600" b="0" i="0" dirty="0">
                <a:solidFill>
                  <a:srgbClr val="242424"/>
                </a:solidFill>
                <a:effectLst/>
                <a:latin typeface="source-serif-pro"/>
              </a:rPr>
              <a:t>(4, 2, 29)</a:t>
            </a:r>
          </a:p>
          <a:p>
            <a:pPr algn="l">
              <a:lnSpc>
                <a:spcPts val="2400"/>
              </a:lnSpc>
            </a:pPr>
            <a:r>
              <a:rPr lang="en-MY" sz="1600" b="0" i="0" dirty="0">
                <a:solidFill>
                  <a:srgbClr val="242424"/>
                </a:solidFill>
                <a:effectLst/>
                <a:latin typeface="source-serif-pro"/>
              </a:rPr>
              <a:t>(5, 2, 30)</a:t>
            </a:r>
          </a:p>
        </p:txBody>
      </p:sp>
      <p:sp>
        <p:nvSpPr>
          <p:cNvPr id="8" name="TextBox 7">
            <a:extLst>
              <a:ext uri="{FF2B5EF4-FFF2-40B4-BE49-F238E27FC236}">
                <a16:creationId xmlns:a16="http://schemas.microsoft.com/office/drawing/2014/main" id="{07496A67-4BB9-84C7-EBD3-501B7992C61E}"/>
              </a:ext>
            </a:extLst>
          </p:cNvPr>
          <p:cNvSpPr txBox="1"/>
          <p:nvPr/>
        </p:nvSpPr>
        <p:spPr>
          <a:xfrm>
            <a:off x="8877300" y="5711192"/>
            <a:ext cx="3524250" cy="923330"/>
          </a:xfrm>
          <a:prstGeom prst="rect">
            <a:avLst/>
          </a:prstGeom>
          <a:noFill/>
        </p:spPr>
        <p:txBody>
          <a:bodyPr wrap="square">
            <a:spAutoFit/>
          </a:bodyPr>
          <a:lstStyle/>
          <a:p>
            <a:r>
              <a:rPr lang="en-US" b="1" i="0" dirty="0">
                <a:solidFill>
                  <a:srgbClr val="242424"/>
                </a:solidFill>
                <a:effectLst/>
                <a:latin typeface="source-serif-pro"/>
              </a:rPr>
              <a:t>PLY - RGB-D Data (X, Y, Z): </a:t>
            </a:r>
          </a:p>
          <a:p>
            <a:r>
              <a:rPr lang="en-US" b="1" i="0" dirty="0">
                <a:solidFill>
                  <a:srgbClr val="242424"/>
                </a:solidFill>
                <a:effectLst/>
                <a:latin typeface="source-serif-pro"/>
              </a:rPr>
              <a:t>(RGB color values are omitted </a:t>
            </a:r>
          </a:p>
          <a:p>
            <a:r>
              <a:rPr lang="en-US" b="1" i="0" dirty="0">
                <a:solidFill>
                  <a:srgbClr val="242424"/>
                </a:solidFill>
                <a:effectLst/>
                <a:latin typeface="source-serif-pro"/>
              </a:rPr>
              <a:t>for simplicity)</a:t>
            </a:r>
            <a:endParaRPr lang="en-MY" dirty="0"/>
          </a:p>
        </p:txBody>
      </p:sp>
    </p:spTree>
    <p:extLst>
      <p:ext uri="{BB962C8B-B14F-4D97-AF65-F5344CB8AC3E}">
        <p14:creationId xmlns:p14="http://schemas.microsoft.com/office/powerpoint/2010/main" val="2548749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395EC-51BB-1898-B852-59F878BD8E0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File Formats</a:t>
            </a:r>
          </a:p>
        </p:txBody>
      </p:sp>
      <p:pic>
        <p:nvPicPr>
          <p:cNvPr id="5" name="Content Placeholder 4">
            <a:extLst>
              <a:ext uri="{FF2B5EF4-FFF2-40B4-BE49-F238E27FC236}">
                <a16:creationId xmlns:a16="http://schemas.microsoft.com/office/drawing/2014/main" id="{D9398B2B-429F-98A4-1F1B-D59693946DFE}"/>
              </a:ext>
            </a:extLst>
          </p:cNvPr>
          <p:cNvPicPr>
            <a:picLocks noGrp="1" noChangeAspect="1"/>
          </p:cNvPicPr>
          <p:nvPr>
            <p:ph idx="1"/>
          </p:nvPr>
        </p:nvPicPr>
        <p:blipFill>
          <a:blip r:embed="rId2"/>
          <a:stretch>
            <a:fillRect/>
          </a:stretch>
        </p:blipFill>
        <p:spPr>
          <a:xfrm>
            <a:off x="643467" y="2072991"/>
            <a:ext cx="10905066" cy="3598671"/>
          </a:xfrm>
          <a:prstGeom prst="rect">
            <a:avLst/>
          </a:prstGeom>
        </p:spPr>
      </p:pic>
    </p:spTree>
    <p:extLst>
      <p:ext uri="{BB962C8B-B14F-4D97-AF65-F5344CB8AC3E}">
        <p14:creationId xmlns:p14="http://schemas.microsoft.com/office/powerpoint/2010/main" val="3807981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56393-BCE4-21B1-5CD7-789120D64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308A5-76B0-F7F1-AC1C-774453B6EF47}"/>
              </a:ext>
            </a:extLst>
          </p:cNvPr>
          <p:cNvSpPr>
            <a:spLocks noGrp="1"/>
          </p:cNvSpPr>
          <p:nvPr>
            <p:ph type="title"/>
          </p:nvPr>
        </p:nvSpPr>
        <p:spPr/>
        <p:txBody>
          <a:bodyPr/>
          <a:lstStyle/>
          <a:p>
            <a:pPr algn="l">
              <a:lnSpc>
                <a:spcPts val="2250"/>
              </a:lnSpc>
            </a:pPr>
            <a:r>
              <a:rPr lang="en-US" b="1" i="0" dirty="0">
                <a:solidFill>
                  <a:srgbClr val="242424"/>
                </a:solidFill>
                <a:effectLst/>
                <a:latin typeface="sohne"/>
              </a:rPr>
              <a:t>PLY file format</a:t>
            </a:r>
          </a:p>
        </p:txBody>
      </p:sp>
      <p:sp>
        <p:nvSpPr>
          <p:cNvPr id="3" name="Content Placeholder 2">
            <a:extLst>
              <a:ext uri="{FF2B5EF4-FFF2-40B4-BE49-F238E27FC236}">
                <a16:creationId xmlns:a16="http://schemas.microsoft.com/office/drawing/2014/main" id="{73242A0B-80DF-5F27-57EB-832E381DE517}"/>
              </a:ext>
            </a:extLst>
          </p:cNvPr>
          <p:cNvSpPr>
            <a:spLocks noGrp="1"/>
          </p:cNvSpPr>
          <p:nvPr>
            <p:ph idx="1"/>
          </p:nvPr>
        </p:nvSpPr>
        <p:spPr>
          <a:xfrm>
            <a:off x="838200" y="1511300"/>
            <a:ext cx="4381500" cy="4351338"/>
          </a:xfrm>
        </p:spPr>
        <p:txBody>
          <a:bodyPr>
            <a:normAutofit lnSpcReduction="10000"/>
          </a:bodyPr>
          <a:lstStyle/>
          <a:p>
            <a:r>
              <a:rPr lang="en-US" sz="2400" dirty="0"/>
              <a:t>Note that the points (generally called </a:t>
            </a:r>
            <a:r>
              <a:rPr lang="en-US" sz="2400" b="1" dirty="0"/>
              <a:t>vertex</a:t>
            </a:r>
            <a:r>
              <a:rPr lang="en-US" sz="2400" dirty="0"/>
              <a:t>) are listed row by row, and within each row, they are listed in the order of increasing horizontal pixel positions. </a:t>
            </a:r>
          </a:p>
          <a:p>
            <a:r>
              <a:rPr lang="en-US" sz="2400" dirty="0"/>
              <a:t>That is, First row all columns, Second row all columns and so on. This ordering ensures that the reconstructed 3D points are aligned with the corresponding depth image pixels.</a:t>
            </a:r>
            <a:endParaRPr lang="en-MY" sz="2400" dirty="0"/>
          </a:p>
        </p:txBody>
      </p:sp>
      <p:pic>
        <p:nvPicPr>
          <p:cNvPr id="9" name="Picture 8">
            <a:extLst>
              <a:ext uri="{FF2B5EF4-FFF2-40B4-BE49-F238E27FC236}">
                <a16:creationId xmlns:a16="http://schemas.microsoft.com/office/drawing/2014/main" id="{AB779657-10EE-E95E-FB36-B5E76E207BBD}"/>
              </a:ext>
            </a:extLst>
          </p:cNvPr>
          <p:cNvPicPr>
            <a:picLocks noChangeAspect="1"/>
          </p:cNvPicPr>
          <p:nvPr/>
        </p:nvPicPr>
        <p:blipFill>
          <a:blip r:embed="rId2"/>
          <a:stretch>
            <a:fillRect/>
          </a:stretch>
        </p:blipFill>
        <p:spPr>
          <a:xfrm>
            <a:off x="5995975" y="1272252"/>
            <a:ext cx="5113011" cy="4590386"/>
          </a:xfrm>
          <a:prstGeom prst="rect">
            <a:avLst/>
          </a:prstGeom>
        </p:spPr>
      </p:pic>
    </p:spTree>
    <p:extLst>
      <p:ext uri="{BB962C8B-B14F-4D97-AF65-F5344CB8AC3E}">
        <p14:creationId xmlns:p14="http://schemas.microsoft.com/office/powerpoint/2010/main" val="862618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605</TotalTime>
  <Words>1707</Words>
  <Application>Microsoft Office PowerPoint</Application>
  <PresentationFormat>Widescreen</PresentationFormat>
  <Paragraphs>110</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sohne</vt:lpstr>
      <vt:lpstr>source-serif-pro</vt:lpstr>
      <vt:lpstr>Office Theme</vt:lpstr>
      <vt:lpstr>3D Point Cloud Processing</vt:lpstr>
      <vt:lpstr>3D Point Clouds</vt:lpstr>
      <vt:lpstr>Importance of 3D Point Clouds</vt:lpstr>
      <vt:lpstr>Applications of 3D Point Clouds</vt:lpstr>
      <vt:lpstr>Applications of 3D Point Clouds</vt:lpstr>
      <vt:lpstr>2D-2.5D-3D Data</vt:lpstr>
      <vt:lpstr>2D-2.5D-3D Data</vt:lpstr>
      <vt:lpstr>2D-2.5D-3D Data</vt:lpstr>
      <vt:lpstr>How to generate 2.5D Data?</vt:lpstr>
      <vt:lpstr>How to generate 2.5D Data?</vt:lpstr>
      <vt:lpstr>3D Data</vt:lpstr>
      <vt:lpstr>3D Data Types</vt:lpstr>
      <vt:lpstr>Point Cloud, mesh, volumetric &amp; depth map</vt:lpstr>
      <vt:lpstr>Point Cloud, mesh, volumetric &amp; depth map</vt:lpstr>
      <vt:lpstr>Key differences of 3D data types</vt:lpstr>
      <vt:lpstr>Advantages VS Disadvantages</vt:lpstr>
      <vt:lpstr>Sensors for capturing 3D data</vt:lpstr>
      <vt:lpstr>Sensors for capturing 3D data</vt:lpstr>
      <vt:lpstr>How Points are Organized in 3D Space</vt:lpstr>
      <vt:lpstr>File Formats</vt:lpstr>
      <vt:lpstr>PLY file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HASAN FIRDAUS BIN MOHD ZAKI</dc:creator>
  <cp:lastModifiedBy>Hasan Firdaus</cp:lastModifiedBy>
  <cp:revision>17</cp:revision>
  <dcterms:created xsi:type="dcterms:W3CDTF">2024-12-31T03:34:59Z</dcterms:created>
  <dcterms:modified xsi:type="dcterms:W3CDTF">2025-06-04T00:55:08Z</dcterms:modified>
</cp:coreProperties>
</file>